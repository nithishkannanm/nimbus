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09ED9A-DC7B-EDF4-A6B7-A2E4400B8E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1EF145-AB90-FE17-EDBB-8928A8EDE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C9E4BF-F7EE-FCEA-B221-A6C6CBA67F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0E4145-571A-82A6-076F-E6EA92FAB9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A10C73-A1E6-87BB-4500-4DECE0D937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D69535-357F-2533-C66F-C440AA1C93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16A2C8-C533-DEA3-B42E-71E8F236DA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464A78-A9D6-4A1B-5610-4E33B0D498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73863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7038488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627136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020266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3692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0287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656722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91539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539321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89282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91714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08668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27944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850154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641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3118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354574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15933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50612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124264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50153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4228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84873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87655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520039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2614702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4952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4247632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2775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330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598522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1122069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909429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25046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6890077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11282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28994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648935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63347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095408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2666940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12087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227678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814548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01239073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44789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271824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42725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29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70915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67413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97792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9352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65200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941685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2071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332835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2254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6392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80072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048925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8777833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738750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13159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9585487" name="Rectangle 2"/>
          <p:cNvSpPr/>
          <p:nvPr/>
        </p:nvSpPr>
        <p:spPr bwMode="auto"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7035847" name="Rectangle 3"/>
          <p:cNvSpPr/>
          <p:nvPr/>
        </p:nvSpPr>
        <p:spPr bwMode="auto">
          <a:xfrm>
            <a:off x="256032" y="0"/>
            <a:ext cx="54864" cy="685800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6754694" name="TextBox 4"/>
          <p:cNvSpPr txBox="1"/>
          <p:nvPr/>
        </p:nvSpPr>
        <p:spPr bwMode="auto">
          <a:xfrm>
            <a:off x="1234440" y="1783080"/>
            <a:ext cx="9693360" cy="18382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1800" b="1" i="0">
                <a:solidFill>
                  <a:srgbClr val="0F766E"/>
                </a:solidFill>
                <a:latin typeface="Segoe UI"/>
              </a:rPr>
              <a:t>NIMBUS</a:t>
            </a:r>
            <a:endParaRPr/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400" b="1" i="0">
                <a:solidFill>
                  <a:srgbClr val="0F172A"/>
                </a:solidFill>
                <a:latin typeface="Segoe UI"/>
              </a:rPr>
              <a:t>Telemetry-Aware Adaptive</a:t>
            </a:r>
            <a:endParaRPr/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400" b="1" i="0">
                <a:solidFill>
                  <a:srgbClr val="0F172A"/>
                </a:solidFill>
                <a:latin typeface="Segoe UI"/>
              </a:rPr>
              <a:t>Workload Scheduling on AWS</a:t>
            </a:r>
            <a:endParaRPr/>
          </a:p>
        </p:txBody>
      </p:sp>
      <p:cxnSp>
        <p:nvCxnSpPr>
          <p:cNvPr id="1779606386" name="Connector 5"/>
          <p:cNvCxnSpPr/>
          <p:nvPr/>
        </p:nvCxnSpPr>
        <p:spPr bwMode="auto">
          <a:xfrm>
            <a:off x="1234440" y="3913632"/>
            <a:ext cx="2743199" cy="0"/>
          </a:xfrm>
          <a:prstGeom prst="line">
            <a:avLst/>
          </a:prstGeom>
          <a:ln w="317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909878" name="TextBox 6"/>
          <p:cNvSpPr txBox="1"/>
          <p:nvPr/>
        </p:nvSpPr>
        <p:spPr bwMode="auto">
          <a:xfrm>
            <a:off x="1234440" y="4133087"/>
            <a:ext cx="9052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550" b="0" i="0">
                <a:solidFill>
                  <a:srgbClr val="334155"/>
                </a:solidFill>
                <a:latin typeface="Segoe UI"/>
              </a:rPr>
              <a:t>Can a scheduler that reads live worker telemetry place jobs better than one that reasons only about declared and reserved capacity?</a:t>
            </a:r>
            <a:endParaRPr/>
          </a:p>
        </p:txBody>
      </p:sp>
      <p:sp>
        <p:nvSpPr>
          <p:cNvPr id="701174496" name="Rounded Rectangle 7"/>
          <p:cNvSpPr/>
          <p:nvPr/>
        </p:nvSpPr>
        <p:spPr bwMode="auto">
          <a:xfrm>
            <a:off x="1234440" y="5230368"/>
            <a:ext cx="1965960" cy="329184"/>
          </a:xfrm>
          <a:prstGeom prst="roundRect">
            <a:avLst>
              <a:gd name="adj" fmla="val 4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>
                <a:solidFill>
                  <a:srgbClr val="0F766E"/>
                </a:solidFill>
                <a:latin typeface="Segoe UI"/>
              </a:rPr>
              <a:t>REVIEW 1</a:t>
            </a:r>
            <a:endParaRPr/>
          </a:p>
        </p:txBody>
      </p:sp>
      <p:sp>
        <p:nvSpPr>
          <p:cNvPr id="1456436908" name="TextBox 8"/>
          <p:cNvSpPr txBox="1"/>
          <p:nvPr/>
        </p:nvSpPr>
        <p:spPr bwMode="auto">
          <a:xfrm>
            <a:off x="3429000" y="5248656"/>
            <a:ext cx="74980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0" i="0">
                <a:solidFill>
                  <a:srgbClr val="64748B"/>
                </a:solidFill>
                <a:latin typeface="Segoe UI"/>
              </a:rPr>
              <a:t>Phase 3 of 9 complete  ·  274 tests passing</a:t>
            </a:r>
            <a:endParaRPr/>
          </a:p>
        </p:txBody>
      </p:sp>
      <p:sp>
        <p:nvSpPr>
          <p:cNvPr id="2100612233" name="TextBox 9"/>
          <p:cNvSpPr txBox="1"/>
          <p:nvPr/>
        </p:nvSpPr>
        <p:spPr bwMode="auto">
          <a:xfrm>
            <a:off x="1234440" y="5870448"/>
            <a:ext cx="9737279" cy="622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sz="1200" b="0">
                <a:solidFill>
                  <a:srgbClr val="64748B"/>
                </a:solidFill>
                <a:latin typeface="Segoe UI"/>
              </a:rPr>
              <a:t>Presented by  </a:t>
            </a:r>
            <a:r>
              <a:rPr sz="1200" b="1">
                <a:solidFill>
                  <a:srgbClr val="0F172A"/>
                </a:solidFill>
                <a:latin typeface="Segoe UI"/>
              </a:rPr>
              <a:t>Nithish Kannan M, Sharath Goyal</a:t>
            </a:r>
            <a:r>
              <a:rPr sz="1200" b="0">
                <a:solidFill>
                  <a:srgbClr val="64748B"/>
                </a:solidFill>
                <a:latin typeface="Segoe UI"/>
              </a:rPr>
              <a:t>,    ·   Reg. No.  </a:t>
            </a:r>
            <a:r>
              <a:rPr sz="1200" b="1">
                <a:solidFill>
                  <a:srgbClr val="0F172A"/>
                </a:solidFill>
                <a:latin typeface="Segoe UI"/>
              </a:rPr>
              <a:t>24BCE1842, 24BCE1939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70519" name="Rectangle 1"/>
          <p:cNvSpPr/>
          <p:nvPr/>
        </p:nvSpPr>
        <p:spPr bwMode="auto"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6538123" name="TextBox 2"/>
          <p:cNvSpPr txBox="1"/>
          <p:nvPr/>
        </p:nvSpPr>
        <p:spPr bwMode="auto">
          <a:xfrm>
            <a:off x="777240" y="38404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PROBLEM STATEMENT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 i="0">
                <a:solidFill>
                  <a:srgbClr val="0F172A"/>
                </a:solidFill>
                <a:latin typeface="Segoe UI"/>
              </a:rPr>
              <a:t>Schedulers place work using numbers nobody measured</a:t>
            </a:r>
            <a:endParaRPr/>
          </a:p>
        </p:txBody>
      </p:sp>
      <p:cxnSp>
        <p:nvCxnSpPr>
          <p:cNvPr id="4113539" name="Connector 3"/>
          <p:cNvCxnSpPr/>
          <p:nvPr/>
        </p:nvCxnSpPr>
        <p:spPr bwMode="auto">
          <a:xfrm>
            <a:off x="777240" y="1548637"/>
            <a:ext cx="106344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373693" name="TextBox 4"/>
          <p:cNvSpPr txBox="1"/>
          <p:nvPr/>
        </p:nvSpPr>
        <p:spPr bwMode="auto">
          <a:xfrm>
            <a:off x="777240" y="63276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Segoe UI"/>
              </a:rPr>
              <a:t>Nimbus  ·  Review 1  ·  02</a:t>
            </a:r>
            <a:endParaRPr/>
          </a:p>
        </p:txBody>
      </p:sp>
      <p:sp>
        <p:nvSpPr>
          <p:cNvPr id="243611941" name="TextBox 5"/>
          <p:cNvSpPr txBox="1"/>
          <p:nvPr/>
        </p:nvSpPr>
        <p:spPr bwMode="auto">
          <a:xfrm>
            <a:off x="777240" y="1691640"/>
            <a:ext cx="67208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1500" b="1" i="0">
                <a:solidFill>
                  <a:srgbClr val="0F172A"/>
                </a:solidFill>
                <a:latin typeface="Segoe UI"/>
              </a:rPr>
              <a:t>A cluster scheduler must answer one question for every job: which machine should run this?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1400" b="0" i="0">
                <a:solidFill>
                  <a:srgbClr val="334155"/>
                </a:solidFill>
                <a:latin typeface="Segoe UI"/>
              </a:rPr>
              <a:t>Production placement engines answer it from paperwork rather than from measurement: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350" b="0">
                <a:solidFill>
                  <a:srgbClr val="0F766E"/>
                </a:solidFill>
                <a:latin typeface="Segoe UI"/>
              </a:rPr>
              <a:t>▪  </a:t>
            </a:r>
            <a:r>
              <a:rPr sz="1350" b="1">
                <a:solidFill>
                  <a:srgbClr val="0F172A"/>
                </a:solidFill>
                <a:latin typeface="Segoe UI"/>
              </a:rPr>
              <a:t>Declared requirements — </a:t>
            </a:r>
            <a:r>
              <a:rPr sz="1350" b="0">
                <a:solidFill>
                  <a:srgbClr val="334155"/>
                </a:solidFill>
                <a:latin typeface="Segoe UI"/>
              </a:rPr>
              <a:t>what the job's author claimed it would need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350" b="0">
                <a:solidFill>
                  <a:srgbClr val="0F766E"/>
                </a:solidFill>
                <a:latin typeface="Segoe UI"/>
              </a:rPr>
              <a:t>▪  </a:t>
            </a:r>
            <a:r>
              <a:rPr sz="1350" b="1">
                <a:solidFill>
                  <a:srgbClr val="0F172A"/>
                </a:solidFill>
                <a:latin typeface="Segoe UI"/>
              </a:rPr>
              <a:t>Reserved capacity — </a:t>
            </a:r>
            <a:r>
              <a:rPr sz="1350" b="0">
                <a:solidFill>
                  <a:srgbClr val="334155"/>
                </a:solidFill>
                <a:latin typeface="Segoe UI"/>
              </a:rPr>
              <a:t>the arithmetic sum of those claims on each host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350" b="0">
                <a:solidFill>
                  <a:srgbClr val="0F766E"/>
                </a:solidFill>
                <a:latin typeface="Segoe UI"/>
              </a:rPr>
              <a:t>▪  </a:t>
            </a:r>
            <a:r>
              <a:rPr sz="1350" b="1">
                <a:solidFill>
                  <a:srgbClr val="0F172A"/>
                </a:solidFill>
                <a:latin typeface="Segoe UI"/>
              </a:rPr>
              <a:t>Static attributes — </a:t>
            </a:r>
            <a:r>
              <a:rPr sz="1350" b="0">
                <a:solidFill>
                  <a:srgbClr val="334155"/>
                </a:solidFill>
                <a:latin typeface="Segoe UI"/>
              </a:rPr>
              <a:t>instance type, AZ, labels — fixed at registration</a:t>
            </a:r>
            <a:endParaRPr/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700"/>
              </a:spcAft>
              <a:defRPr/>
            </a:pPr>
            <a:r>
              <a:rPr sz="1450" b="1" i="0">
                <a:solidFill>
                  <a:srgbClr val="0F172A"/>
                </a:solidFill>
                <a:latin typeface="Segoe UI"/>
              </a:rPr>
              <a:t>None of these is the machine's actual condition.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334155"/>
                </a:solidFill>
                <a:latin typeface="Segoe UI"/>
              </a:rPr>
              <a:t>A host can sit at 100% CPU from work the scheduler never dispatched — a co-tenant, a backup job, an operator's build. Nothing was reserved, so it still advertises full capacity as free.</a:t>
            </a:r>
            <a:endParaRPr/>
          </a:p>
        </p:txBody>
      </p:sp>
      <p:sp>
        <p:nvSpPr>
          <p:cNvPr id="1961334345" name="Rectangle 6"/>
          <p:cNvSpPr/>
          <p:nvPr/>
        </p:nvSpPr>
        <p:spPr bwMode="auto">
          <a:xfrm>
            <a:off x="7909560" y="1691640"/>
            <a:ext cx="3502152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19456" rIns="256032" bIns="36576" rtlCol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sz="1000" b="1" i="0">
                <a:solidFill>
                  <a:srgbClr val="0F766E"/>
                </a:solidFill>
                <a:latin typeface="Segoe UI"/>
              </a:rPr>
              <a:t>THE BLIND SPOT, CONCRETELY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sz="1300" b="1">
                <a:solidFill>
                  <a:srgbClr val="0F172A"/>
                </a:solidFill>
                <a:latin typeface="Segoe UI"/>
              </a:rPr>
              <a:t>Amazon ECS</a:t>
            </a:r>
            <a:endParaRPr/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sz="1150" b="0" i="0">
                <a:solidFill>
                  <a:srgbClr val="334155"/>
                </a:solidFill>
                <a:latin typeface="Segoe UI"/>
              </a:rPr>
              <a:t>Its cluster query language has no subject for observed CPU or memory utilisation. Placement filters and strategies read declared and reserved values only.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sz="1300" b="1">
                <a:solidFill>
                  <a:srgbClr val="0F172A"/>
                </a:solidFill>
                <a:latin typeface="Segoe UI"/>
              </a:rPr>
              <a:t>AWS Batch</a:t>
            </a:r>
            <a:endParaRPr/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0" i="0">
                <a:solidFill>
                  <a:srgbClr val="334155"/>
                </a:solidFill>
                <a:latin typeface="Segoe UI"/>
              </a:rPr>
              <a:t>Fair-share scheduling reasons about consumed queue share per tenant — not about host pressure.</a:t>
            </a:r>
            <a:endParaRPr/>
          </a:p>
        </p:txBody>
      </p:sp>
      <p:sp>
        <p:nvSpPr>
          <p:cNvPr id="506109362" name="Rectangle 7"/>
          <p:cNvSpPr/>
          <p:nvPr/>
        </p:nvSpPr>
        <p:spPr bwMode="auto">
          <a:xfrm>
            <a:off x="777240" y="5541264"/>
            <a:ext cx="10634472" cy="676656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36576" rIns="237744" bIns="36576" rtlCol="0"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50" b="1">
                <a:solidFill>
                  <a:srgbClr val="0F766E"/>
                </a:solidFill>
                <a:latin typeface="Segoe UI"/>
              </a:rPr>
              <a:t>The gap.  </a:t>
            </a:r>
            <a:r>
              <a:rPr sz="1350" b="0">
                <a:solidFill>
                  <a:srgbClr val="0F172A"/>
                </a:solidFill>
                <a:latin typeface="Segoe UI"/>
              </a:rPr>
              <a:t>Does adding observed, high-frequency, per-host telemetry to the placement function measurably improve scheduling — or does reservation accounting already capture everything that matters?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52971" name="Rectangle 1"/>
          <p:cNvSpPr/>
          <p:nvPr/>
        </p:nvSpPr>
        <p:spPr bwMode="auto"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4553547" name="TextBox 2"/>
          <p:cNvSpPr txBox="1"/>
          <p:nvPr/>
        </p:nvSpPr>
        <p:spPr bwMode="auto">
          <a:xfrm>
            <a:off x="777240" y="38404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PROBLEM STATEMENT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 i="0">
                <a:solidFill>
                  <a:srgbClr val="0F172A"/>
                </a:solidFill>
                <a:latin typeface="Segoe UI"/>
              </a:rPr>
              <a:t>Scoping: what this project does not claim</a:t>
            </a:r>
            <a:endParaRPr/>
          </a:p>
        </p:txBody>
      </p:sp>
      <p:cxnSp>
        <p:nvCxnSpPr>
          <p:cNvPr id="1736509851" name="Connector 3"/>
          <p:cNvCxnSpPr/>
          <p:nvPr/>
        </p:nvCxnSpPr>
        <p:spPr bwMode="auto">
          <a:xfrm>
            <a:off x="777240" y="1389888"/>
            <a:ext cx="106344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344779" name="TextBox 4"/>
          <p:cNvSpPr txBox="1"/>
          <p:nvPr/>
        </p:nvSpPr>
        <p:spPr bwMode="auto">
          <a:xfrm>
            <a:off x="777240" y="63276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Segoe UI"/>
              </a:rPr>
              <a:t>Nimbus  ·  Review 1  ·  03</a:t>
            </a:r>
            <a:endParaRPr/>
          </a:p>
        </p:txBody>
      </p:sp>
      <p:sp>
        <p:nvSpPr>
          <p:cNvPr id="838529568" name="TextBox 5"/>
          <p:cNvSpPr txBox="1"/>
          <p:nvPr/>
        </p:nvSpPr>
        <p:spPr bwMode="auto">
          <a:xfrm>
            <a:off x="777240" y="1664208"/>
            <a:ext cx="10634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400" b="0" i="0">
                <a:solidFill>
                  <a:srgbClr val="334155"/>
                </a:solidFill>
                <a:latin typeface="Segoe UI"/>
              </a:rPr>
              <a:t>AWS already solves production job scheduling. Nimbus is not a replacement for any of it, and the project is forbidden from claiming otherwise.</a:t>
            </a:r>
            <a:endParaRPr/>
          </a:p>
        </p:txBody>
      </p:sp>
      <p:sp>
        <p:nvSpPr>
          <p:cNvPr id="779064568" name="Rectangle 6"/>
          <p:cNvSpPr/>
          <p:nvPr/>
        </p:nvSpPr>
        <p:spPr bwMode="auto">
          <a:xfrm>
            <a:off x="777240" y="2395728"/>
            <a:ext cx="3392424" cy="3310127"/>
          </a:xfrm>
          <a:prstGeom prst="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19456" bIns="36576" rtlCol="0" anchor="t"/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000" b="1" i="0">
                <a:solidFill>
                  <a:srgbClr val="64748B"/>
                </a:solidFill>
                <a:latin typeface="Segoe UI"/>
              </a:rPr>
              <a:t>ALREADY SOLVED BY AWS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64748B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FIFO queues, job priority, dependsOn DAGs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64748B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Fair-share scheduling with usage decay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64748B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binpack / spread / random placement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64748B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Lease semantics, retries, DLQs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64748B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Target-tracking and predictive autoscaling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64748B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Capacity-aware instance allocation</a:t>
            </a:r>
            <a:endParaRPr/>
          </a:p>
        </p:txBody>
      </p:sp>
      <p:sp>
        <p:nvSpPr>
          <p:cNvPr id="658088902" name="Rectangle 7"/>
          <p:cNvSpPr/>
          <p:nvPr/>
        </p:nvSpPr>
        <p:spPr bwMode="auto">
          <a:xfrm>
            <a:off x="4398264" y="2395728"/>
            <a:ext cx="3392424" cy="3310127"/>
          </a:xfrm>
          <a:prstGeom prst="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19456" bIns="36576" rtlCol="0" anchor="t"/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000" b="1" i="0">
                <a:solidFill>
                  <a:srgbClr val="B45309"/>
                </a:solidFill>
                <a:latin typeface="Segoe UI"/>
              </a:rPr>
              <a:t>DELIBERATELY OUT OF SCOPE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B45309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Multi-tenant fairness — starvation control only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B45309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Autoscaling — the fleet is fixed at 3 workers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B45309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Instance-type selection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B45309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DAG dependencies between jobs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B45309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Priority ordering — designed, not implemented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B45309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Production security posture</a:t>
            </a:r>
            <a:endParaRPr/>
          </a:p>
        </p:txBody>
      </p:sp>
      <p:sp>
        <p:nvSpPr>
          <p:cNvPr id="728514978" name="Rectangle 8"/>
          <p:cNvSpPr/>
          <p:nvPr/>
        </p:nvSpPr>
        <p:spPr bwMode="auto">
          <a:xfrm>
            <a:off x="8019288" y="2395728"/>
            <a:ext cx="3392424" cy="3310127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19456" bIns="36576" rtlCol="0" anchor="t"/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000" b="1" i="0">
                <a:solidFill>
                  <a:srgbClr val="0F766E"/>
                </a:solidFill>
                <a:latin typeface="Segoe UI"/>
              </a:rPr>
              <a:t>THE NARROW THING NIMBUS TESTS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0F766E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Observed per-host CPU and memory pressure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0F766E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Smoothed over a short sample window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0F766E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Plus a least-squares utilisation trend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0F766E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Added to the per-job placement score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0F766E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Measured against the static baseline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150" b="0">
                <a:solidFill>
                  <a:srgbClr val="0F766E"/>
                </a:solidFill>
                <a:latin typeface="Segoe UI"/>
              </a:rPr>
              <a:t>·  </a:t>
            </a:r>
            <a:r>
              <a:rPr sz="1150" b="0">
                <a:solidFill>
                  <a:srgbClr val="334155"/>
                </a:solidFill>
                <a:latin typeface="Segoe UI"/>
              </a:rPr>
              <a:t>Treated as a hypothesis that may be rejected</a:t>
            </a:r>
            <a:endParaRPr/>
          </a:p>
        </p:txBody>
      </p:sp>
      <p:sp>
        <p:nvSpPr>
          <p:cNvPr id="205671173" name="TextBox 9"/>
          <p:cNvSpPr txBox="1"/>
          <p:nvPr/>
        </p:nvSpPr>
        <p:spPr bwMode="auto">
          <a:xfrm>
            <a:off x="777240" y="5907024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50" b="0" i="1">
                <a:solidFill>
                  <a:srgbClr val="0F172A"/>
                </a:solidFill>
                <a:latin typeface="Segoe UI"/>
              </a:rPr>
              <a:t>The real test is not “does Adaptive beat FIFO” — it should, almost arithmetically. It is “does Adaptive beat Static Resource-Aware”.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591698" name="Rectangle 1"/>
          <p:cNvSpPr/>
          <p:nvPr/>
        </p:nvSpPr>
        <p:spPr bwMode="auto"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2839039" name="TextBox 2"/>
          <p:cNvSpPr txBox="1"/>
          <p:nvPr/>
        </p:nvSpPr>
        <p:spPr bwMode="auto">
          <a:xfrm>
            <a:off x="777240" y="38404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050" b="1" i="0">
                <a:solidFill>
                  <a:srgbClr val="0F766E"/>
                </a:solidFill>
                <a:latin typeface="Segoe UI"/>
              </a:rPr>
              <a:t>OBJECTIVE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 i="0">
                <a:solidFill>
                  <a:srgbClr val="0F172A"/>
                </a:solidFill>
                <a:latin typeface="Segoe UI"/>
              </a:rPr>
              <a:t>One hypothesis, three falsifiable sub-claims</a:t>
            </a:r>
            <a:endParaRPr/>
          </a:p>
        </p:txBody>
      </p:sp>
      <p:cxnSp>
        <p:nvCxnSpPr>
          <p:cNvPr id="631126345" name="Connector 3"/>
          <p:cNvCxnSpPr/>
          <p:nvPr/>
        </p:nvCxnSpPr>
        <p:spPr bwMode="auto">
          <a:xfrm>
            <a:off x="777240" y="1389888"/>
            <a:ext cx="106344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5358341" name="TextBox 4"/>
          <p:cNvSpPr txBox="1"/>
          <p:nvPr/>
        </p:nvSpPr>
        <p:spPr bwMode="auto">
          <a:xfrm>
            <a:off x="777240" y="63276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Segoe UI"/>
              </a:rPr>
              <a:t>Nimbus  ·  Review 1  ·  04</a:t>
            </a:r>
            <a:endParaRPr/>
          </a:p>
        </p:txBody>
      </p:sp>
      <p:sp>
        <p:nvSpPr>
          <p:cNvPr id="933964488" name="Rectangle 5"/>
          <p:cNvSpPr/>
          <p:nvPr/>
        </p:nvSpPr>
        <p:spPr bwMode="auto">
          <a:xfrm>
            <a:off x="777240" y="1664208"/>
            <a:ext cx="10634472" cy="969264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" rIns="274320" bIns="36576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50" b="1">
                <a:solidFill>
                  <a:srgbClr val="0F766E"/>
                </a:solidFill>
                <a:latin typeface="Segoe UI"/>
              </a:rPr>
              <a:t>H1.  </a:t>
            </a:r>
            <a:r>
              <a:rPr sz="1350" b="0">
                <a:solidFill>
                  <a:srgbClr val="0F172A"/>
                </a:solidFill>
                <a:latin typeface="Segoe UI"/>
              </a:rPr>
              <a:t>For heterogeneous workloads on workers with dynamically changing resource utilisation, placement decisions informed by real-time telemetry and workload characteristics may improve completion latency, utilisation and load balance compared with FIFO or static resource-aware scheduling.</a:t>
            </a:r>
            <a:endParaRPr/>
          </a:p>
        </p:txBody>
      </p:sp>
      <p:sp>
        <p:nvSpPr>
          <p:cNvPr id="243628790" name="Rectangle 6"/>
          <p:cNvSpPr/>
          <p:nvPr/>
        </p:nvSpPr>
        <p:spPr bwMode="auto">
          <a:xfrm>
            <a:off x="777240" y="1664208"/>
            <a:ext cx="50292" cy="9692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2797456" name="Rectangle 7"/>
          <p:cNvSpPr/>
          <p:nvPr/>
        </p:nvSpPr>
        <p:spPr bwMode="auto">
          <a:xfrm>
            <a:off x="777240" y="2852928"/>
            <a:ext cx="777240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>
                <a:solidFill>
                  <a:srgbClr val="FFFFFF"/>
                </a:solidFill>
                <a:latin typeface="Segoe UI"/>
              </a:rPr>
              <a:t>ID</a:t>
            </a:r>
            <a:endParaRPr/>
          </a:p>
        </p:txBody>
      </p:sp>
      <p:sp>
        <p:nvSpPr>
          <p:cNvPr id="698080217" name="Rectangle 8"/>
          <p:cNvSpPr/>
          <p:nvPr/>
        </p:nvSpPr>
        <p:spPr bwMode="auto">
          <a:xfrm>
            <a:off x="1554480" y="2852928"/>
            <a:ext cx="5166360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Sub-hypothesis</a:t>
            </a:r>
            <a:endParaRPr/>
          </a:p>
        </p:txBody>
      </p:sp>
      <p:sp>
        <p:nvSpPr>
          <p:cNvPr id="1469097319" name="Rectangle 9"/>
          <p:cNvSpPr/>
          <p:nvPr/>
        </p:nvSpPr>
        <p:spPr bwMode="auto">
          <a:xfrm>
            <a:off x="6720840" y="2852928"/>
            <a:ext cx="2651760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Primary metric</a:t>
            </a:r>
            <a:endParaRPr/>
          </a:p>
        </p:txBody>
      </p:sp>
      <p:sp>
        <p:nvSpPr>
          <p:cNvPr id="1553876102" name="Rectangle 10"/>
          <p:cNvSpPr/>
          <p:nvPr/>
        </p:nvSpPr>
        <p:spPr bwMode="auto">
          <a:xfrm>
            <a:off x="9372600" y="2852928"/>
            <a:ext cx="2039112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Null</a:t>
            </a:r>
            <a:endParaRPr/>
          </a:p>
        </p:txBody>
      </p:sp>
      <p:sp>
        <p:nvSpPr>
          <p:cNvPr id="1890470131" name="Rectangle 11"/>
          <p:cNvSpPr/>
          <p:nvPr/>
        </p:nvSpPr>
        <p:spPr bwMode="auto">
          <a:xfrm>
            <a:off x="777240" y="3218688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1" i="0">
                <a:solidFill>
                  <a:srgbClr val="0F172A"/>
                </a:solidFill>
                <a:latin typeface="Segoe UI"/>
              </a:rPr>
              <a:t>H1a</a:t>
            </a:r>
            <a:endParaRPr/>
          </a:p>
        </p:txBody>
      </p:sp>
      <p:sp>
        <p:nvSpPr>
          <p:cNvPr id="1942042677" name="Rectangle 12"/>
          <p:cNvSpPr/>
          <p:nvPr/>
        </p:nvSpPr>
        <p:spPr bwMode="auto">
          <a:xfrm>
            <a:off x="1554480" y="3218688"/>
            <a:ext cx="5166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0" i="0">
                <a:solidFill>
                  <a:srgbClr val="334155"/>
                </a:solidFill>
                <a:latin typeface="Segoe UI"/>
              </a:rPr>
              <a:t>Adaptive reduces tail completion latency vs. FIFO</a:t>
            </a:r>
            <a:endParaRPr/>
          </a:p>
        </p:txBody>
      </p:sp>
      <p:sp>
        <p:nvSpPr>
          <p:cNvPr id="234339483" name="Rectangle 13"/>
          <p:cNvSpPr/>
          <p:nvPr/>
        </p:nvSpPr>
        <p:spPr bwMode="auto">
          <a:xfrm>
            <a:off x="6720840" y="3218688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0" i="0">
                <a:solidFill>
                  <a:srgbClr val="334155"/>
                </a:solidFill>
                <a:latin typeface="Segoe UI"/>
              </a:rPr>
              <a:t>p95 completion time</a:t>
            </a:r>
            <a:endParaRPr/>
          </a:p>
        </p:txBody>
      </p:sp>
      <p:sp>
        <p:nvSpPr>
          <p:cNvPr id="960953842" name="Rectangle 14"/>
          <p:cNvSpPr/>
          <p:nvPr/>
        </p:nvSpPr>
        <p:spPr bwMode="auto">
          <a:xfrm>
            <a:off x="9372600" y="3218688"/>
            <a:ext cx="20391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0" i="0">
                <a:solidFill>
                  <a:srgbClr val="334155"/>
                </a:solidFill>
                <a:latin typeface="Segoe UI"/>
              </a:rPr>
              <a:t>no difference</a:t>
            </a:r>
            <a:endParaRPr/>
          </a:p>
        </p:txBody>
      </p:sp>
      <p:sp>
        <p:nvSpPr>
          <p:cNvPr id="1822557734" name="Rectangle 15"/>
          <p:cNvSpPr/>
          <p:nvPr/>
        </p:nvSpPr>
        <p:spPr bwMode="auto">
          <a:xfrm>
            <a:off x="777240" y="3675887"/>
            <a:ext cx="7772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1" i="0">
                <a:solidFill>
                  <a:srgbClr val="0F172A"/>
                </a:solidFill>
                <a:latin typeface="Segoe UI"/>
              </a:rPr>
              <a:t>H1b</a:t>
            </a:r>
            <a:endParaRPr/>
          </a:p>
        </p:txBody>
      </p:sp>
      <p:sp>
        <p:nvSpPr>
          <p:cNvPr id="138050733" name="Rectangle 16"/>
          <p:cNvSpPr/>
          <p:nvPr/>
        </p:nvSpPr>
        <p:spPr bwMode="auto">
          <a:xfrm>
            <a:off x="1554480" y="3675887"/>
            <a:ext cx="516636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0" i="0">
                <a:solidFill>
                  <a:srgbClr val="334155"/>
                </a:solidFill>
                <a:latin typeface="Segoe UI"/>
              </a:rPr>
              <a:t>Adaptive improves load balance vs. FIFO</a:t>
            </a:r>
            <a:endParaRPr/>
          </a:p>
        </p:txBody>
      </p:sp>
      <p:sp>
        <p:nvSpPr>
          <p:cNvPr id="349107593" name="Rectangle 17"/>
          <p:cNvSpPr/>
          <p:nvPr/>
        </p:nvSpPr>
        <p:spPr bwMode="auto">
          <a:xfrm>
            <a:off x="6720840" y="3675887"/>
            <a:ext cx="265176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0" i="0">
                <a:solidFill>
                  <a:srgbClr val="334155"/>
                </a:solidFill>
                <a:latin typeface="Segoe UI"/>
              </a:rPr>
              <a:t>CV of worker busy-time</a:t>
            </a:r>
            <a:endParaRPr/>
          </a:p>
        </p:txBody>
      </p:sp>
      <p:sp>
        <p:nvSpPr>
          <p:cNvPr id="929634040" name="Rectangle 18"/>
          <p:cNvSpPr/>
          <p:nvPr/>
        </p:nvSpPr>
        <p:spPr bwMode="auto">
          <a:xfrm>
            <a:off x="9372600" y="3675887"/>
            <a:ext cx="2039112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0" i="0">
                <a:solidFill>
                  <a:srgbClr val="334155"/>
                </a:solidFill>
                <a:latin typeface="Segoe UI"/>
              </a:rPr>
              <a:t>no difference</a:t>
            </a:r>
            <a:endParaRPr/>
          </a:p>
        </p:txBody>
      </p:sp>
      <p:sp>
        <p:nvSpPr>
          <p:cNvPr id="1975658198" name="Rectangle 19"/>
          <p:cNvSpPr/>
          <p:nvPr/>
        </p:nvSpPr>
        <p:spPr bwMode="auto">
          <a:xfrm>
            <a:off x="777240" y="4133087"/>
            <a:ext cx="777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1" i="0">
                <a:solidFill>
                  <a:srgbClr val="0F172A"/>
                </a:solidFill>
                <a:latin typeface="Segoe UI"/>
              </a:rPr>
              <a:t>H1c</a:t>
            </a:r>
            <a:endParaRPr/>
          </a:p>
        </p:txBody>
      </p:sp>
      <p:sp>
        <p:nvSpPr>
          <p:cNvPr id="945121227" name="Rectangle 20"/>
          <p:cNvSpPr/>
          <p:nvPr/>
        </p:nvSpPr>
        <p:spPr bwMode="auto">
          <a:xfrm>
            <a:off x="1554480" y="4133087"/>
            <a:ext cx="5166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0" i="0">
                <a:solidFill>
                  <a:srgbClr val="0F172A"/>
                </a:solidFill>
                <a:latin typeface="Segoe UI"/>
              </a:rPr>
              <a:t>Adaptive beats Static Resource-Aware — live telemetry adds</a:t>
            </a:r>
            <a:br>
              <a:rPr sz="1150" b="0" i="0">
                <a:solidFill>
                  <a:srgbClr val="0F172A"/>
                </a:solidFill>
                <a:latin typeface="Segoe UI"/>
              </a:rPr>
            </a:br>
            <a:r>
              <a:rPr sz="1150" b="0" i="0">
                <a:solidFill>
                  <a:srgbClr val="0F172A"/>
                </a:solidFill>
                <a:latin typeface="Segoe UI"/>
              </a:rPr>
              <a:t>something over reservation accounting</a:t>
            </a:r>
            <a:endParaRPr/>
          </a:p>
        </p:txBody>
      </p:sp>
      <p:sp>
        <p:nvSpPr>
          <p:cNvPr id="1940829078" name="Rectangle 21"/>
          <p:cNvSpPr/>
          <p:nvPr/>
        </p:nvSpPr>
        <p:spPr bwMode="auto">
          <a:xfrm>
            <a:off x="6720840" y="4133087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0" i="0">
                <a:solidFill>
                  <a:srgbClr val="0F172A"/>
                </a:solidFill>
                <a:latin typeface="Segoe UI"/>
              </a:rPr>
              <a:t>p95 completion time</a:t>
            </a:r>
            <a:endParaRPr/>
          </a:p>
        </p:txBody>
      </p:sp>
      <p:sp>
        <p:nvSpPr>
          <p:cNvPr id="1723712961" name="Rectangle 22"/>
          <p:cNvSpPr/>
          <p:nvPr/>
        </p:nvSpPr>
        <p:spPr bwMode="auto">
          <a:xfrm>
            <a:off x="9372600" y="4133087"/>
            <a:ext cx="203911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50" b="0" i="0">
                <a:solidFill>
                  <a:srgbClr val="0F172A"/>
                </a:solidFill>
                <a:latin typeface="Segoe UI"/>
              </a:rPr>
              <a:t>no difference</a:t>
            </a:r>
            <a:endParaRPr/>
          </a:p>
        </p:txBody>
      </p:sp>
      <p:sp>
        <p:nvSpPr>
          <p:cNvPr id="91929349" name="TextBox 23"/>
          <p:cNvSpPr txBox="1"/>
          <p:nvPr/>
        </p:nvSpPr>
        <p:spPr bwMode="auto">
          <a:xfrm flipH="0" flipV="0">
            <a:off x="777240" y="4901184"/>
            <a:ext cx="10636631" cy="495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50" b="1">
                <a:solidFill>
                  <a:srgbClr val="0F766E"/>
                </a:solidFill>
                <a:latin typeface="Segoe UI"/>
              </a:rPr>
              <a:t>H1c is the real test.  </a:t>
            </a:r>
            <a:r>
              <a:rPr sz="1250" b="0">
                <a:solidFill>
                  <a:srgbClr val="334155"/>
                </a:solidFill>
                <a:latin typeface="Segoe UI"/>
              </a:rPr>
              <a:t>H1a and H1b compare against baselines that ignore resources entirely. If Adaptive beats FIFO but not Resource-Aware, the honest conclusion resource awareness helps, live telemetry adds nothing measurable is a result, not a failure.</a:t>
            </a:r>
            <a:endParaRPr/>
          </a:p>
        </p:txBody>
      </p:sp>
      <p:sp>
        <p:nvSpPr>
          <p:cNvPr id="1768734856" name="Rectangle 24"/>
          <p:cNvSpPr/>
          <p:nvPr/>
        </p:nvSpPr>
        <p:spPr bwMode="auto">
          <a:xfrm>
            <a:off x="777240" y="5468112"/>
            <a:ext cx="3392424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sz="950" b="1" i="0">
                <a:solidFill>
                  <a:srgbClr val="0F766E"/>
                </a:solidFill>
                <a:latin typeface="Segoe UI"/>
              </a:rPr>
              <a:t>PRE-REGISTERED</a:t>
            </a:r>
            <a:endParaRPr/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b="0" i="0">
                <a:solidFill>
                  <a:srgbClr val="334155"/>
                </a:solidFill>
                <a:latin typeface="Segoe UI"/>
              </a:rPr>
              <a:t>Weights, metrics, α = 0.05 and the ≥5% materiality bar fixed in writing before the code existed</a:t>
            </a:r>
            <a:endParaRPr/>
          </a:p>
        </p:txBody>
      </p:sp>
      <p:sp>
        <p:nvSpPr>
          <p:cNvPr id="1695830395" name="Rectangle 25"/>
          <p:cNvSpPr/>
          <p:nvPr/>
        </p:nvSpPr>
        <p:spPr bwMode="auto">
          <a:xfrm>
            <a:off x="4398264" y="5468112"/>
            <a:ext cx="3392424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sz="950" b="1" i="0">
                <a:solidFill>
                  <a:srgbClr val="0F766E"/>
                </a:solidFill>
                <a:latin typeface="Segoe UI"/>
              </a:rPr>
              <a:t>CONTROLLED</a:t>
            </a:r>
            <a:endParaRPr/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b="0" i="0">
                <a:solidFill>
                  <a:srgbClr val="334155"/>
                </a:solidFill>
                <a:latin typeface="Segoe UI"/>
              </a:rPr>
              <a:t>Every strategy uses FIFO ordering, so any difference is attributable to placement alone</a:t>
            </a:r>
            <a:endParaRPr/>
          </a:p>
        </p:txBody>
      </p:sp>
      <p:sp>
        <p:nvSpPr>
          <p:cNvPr id="954567107" name="Rectangle 26"/>
          <p:cNvSpPr/>
          <p:nvPr/>
        </p:nvSpPr>
        <p:spPr bwMode="auto">
          <a:xfrm>
            <a:off x="8019288" y="5468112"/>
            <a:ext cx="3392424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sz="950" b="1" i="0">
                <a:solidFill>
                  <a:srgbClr val="0F766E"/>
                </a:solidFill>
                <a:latin typeface="Segoe UI"/>
              </a:rPr>
              <a:t>REPLAYABLE</a:t>
            </a:r>
            <a:endParaRPr/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b="0" i="0">
                <a:solidFill>
                  <a:srgbClr val="334155"/>
                </a:solidFill>
                <a:latin typeface="Segoe UI"/>
              </a:rPr>
              <a:t>Every decision is a trace that can be re-scored counterfactually under another policy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75207" name="Rectangle 1"/>
          <p:cNvSpPr/>
          <p:nvPr/>
        </p:nvSpPr>
        <p:spPr bwMode="auto"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7443961" name="TextBox 2"/>
          <p:cNvSpPr txBox="1"/>
          <p:nvPr/>
        </p:nvSpPr>
        <p:spPr bwMode="auto">
          <a:xfrm>
            <a:off x="777240" y="38404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050" b="1" i="0">
                <a:solidFill>
                  <a:srgbClr val="0F766E"/>
                </a:solidFill>
                <a:latin typeface="Segoe UI"/>
              </a:rPr>
              <a:t>SYSTEM ARCHITECTURE DESIGN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 i="0">
                <a:solidFill>
                  <a:srgbClr val="0F172A"/>
                </a:solidFill>
                <a:latin typeface="Segoe UI"/>
              </a:rPr>
              <a:t>Control plane decides, data plane executes</a:t>
            </a:r>
            <a:endParaRPr/>
          </a:p>
        </p:txBody>
      </p:sp>
      <p:cxnSp>
        <p:nvCxnSpPr>
          <p:cNvPr id="1070785383" name="Connector 3"/>
          <p:cNvCxnSpPr/>
          <p:nvPr/>
        </p:nvCxnSpPr>
        <p:spPr bwMode="auto">
          <a:xfrm>
            <a:off x="777240" y="1389888"/>
            <a:ext cx="106344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067469" name="TextBox 4"/>
          <p:cNvSpPr txBox="1"/>
          <p:nvPr/>
        </p:nvSpPr>
        <p:spPr bwMode="auto">
          <a:xfrm>
            <a:off x="777240" y="63276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Segoe UI"/>
              </a:rPr>
              <a:t>Nimbus  ·  Review 1  ·  05</a:t>
            </a:r>
            <a:endParaRPr/>
          </a:p>
        </p:txBody>
      </p:sp>
      <p:sp>
        <p:nvSpPr>
          <p:cNvPr id="1126142031" name="Rounded Rectangle 5"/>
          <p:cNvSpPr/>
          <p:nvPr/>
        </p:nvSpPr>
        <p:spPr bwMode="auto">
          <a:xfrm>
            <a:off x="4864607" y="1591056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050" b="0">
                <a:solidFill>
                  <a:srgbClr val="64748B"/>
                </a:solidFill>
                <a:latin typeface="Segoe UI"/>
              </a:rPr>
              <a:t>CLIENT   ·   CLI / dashboard</a:t>
            </a:r>
            <a:endParaRPr/>
          </a:p>
        </p:txBody>
      </p:sp>
      <p:cxnSp>
        <p:nvCxnSpPr>
          <p:cNvPr id="149361597" name="Connector 6"/>
          <p:cNvCxnSpPr/>
          <p:nvPr/>
        </p:nvCxnSpPr>
        <p:spPr bwMode="auto">
          <a:xfrm>
            <a:off x="6099048" y="1956816"/>
            <a:ext cx="0" cy="256032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079403" name="Rectangle 7"/>
          <p:cNvSpPr/>
          <p:nvPr/>
        </p:nvSpPr>
        <p:spPr bwMode="auto">
          <a:xfrm>
            <a:off x="3950208" y="2212848"/>
            <a:ext cx="42976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200" b="1">
                <a:solidFill>
                  <a:srgbClr val="0F172A"/>
                </a:solidFill>
                <a:latin typeface="Segoe UI"/>
              </a:rPr>
              <a:t>REST API   ·   FastAPI</a:t>
            </a:r>
            <a:endParaRPr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950" b="0">
                <a:solidFill>
                  <a:srgbClr val="64748B"/>
                </a:solidFill>
                <a:latin typeface="Segoe UI"/>
              </a:rPr>
              <a:t>/jobs   /workers   /scheduler   /scheduler/decisions</a:t>
            </a:r>
            <a:endParaRPr/>
          </a:p>
        </p:txBody>
      </p:sp>
      <p:cxnSp>
        <p:nvCxnSpPr>
          <p:cNvPr id="600041665" name="Connector 8"/>
          <p:cNvCxnSpPr/>
          <p:nvPr/>
        </p:nvCxnSpPr>
        <p:spPr bwMode="auto">
          <a:xfrm flipH="1">
            <a:off x="3611880" y="2670048"/>
            <a:ext cx="1325880" cy="292608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704250" name="Connector 9"/>
          <p:cNvCxnSpPr/>
          <p:nvPr/>
        </p:nvCxnSpPr>
        <p:spPr bwMode="auto">
          <a:xfrm>
            <a:off x="7269480" y="2670048"/>
            <a:ext cx="1325880" cy="292608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5807602" name="Rectangle 10"/>
          <p:cNvSpPr/>
          <p:nvPr/>
        </p:nvSpPr>
        <p:spPr bwMode="auto">
          <a:xfrm>
            <a:off x="2148840" y="2962656"/>
            <a:ext cx="2926080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50" b="1">
                <a:solidFill>
                  <a:srgbClr val="0F172A"/>
                </a:solidFill>
                <a:latin typeface="Segoe UI"/>
              </a:rPr>
              <a:t>StateStore</a:t>
            </a:r>
            <a:endParaRPr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900" b="0">
                <a:solidFill>
                  <a:srgbClr val="64748B"/>
                </a:solidFill>
                <a:latin typeface="Segoe UI"/>
              </a:rPr>
              <a:t>job metadata  ·  decision traces  ·  telemetry</a:t>
            </a:r>
            <a:endParaRPr/>
          </a:p>
        </p:txBody>
      </p:sp>
      <p:sp>
        <p:nvSpPr>
          <p:cNvPr id="1225928570" name="Rectangle 11"/>
          <p:cNvSpPr/>
          <p:nvPr/>
        </p:nvSpPr>
        <p:spPr bwMode="auto">
          <a:xfrm>
            <a:off x="7132320" y="2962656"/>
            <a:ext cx="2926080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50" b="1">
                <a:solidFill>
                  <a:srgbClr val="0F172A"/>
                </a:solidFill>
                <a:latin typeface="Segoe UI"/>
              </a:rPr>
              <a:t>JobQueue</a:t>
            </a:r>
            <a:endParaRPr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900" b="0">
                <a:solidFill>
                  <a:srgbClr val="64748B"/>
                </a:solidFill>
                <a:latin typeface="Segoe UI"/>
              </a:rPr>
              <a:t>lease  ·  ack / nack  ·  defer  ·  DLQ</a:t>
            </a:r>
            <a:endParaRPr/>
          </a:p>
        </p:txBody>
      </p:sp>
      <p:cxnSp>
        <p:nvCxnSpPr>
          <p:cNvPr id="13860525" name="Connector 12"/>
          <p:cNvCxnSpPr/>
          <p:nvPr/>
        </p:nvCxnSpPr>
        <p:spPr bwMode="auto">
          <a:xfrm>
            <a:off x="3611880" y="3566160"/>
            <a:ext cx="868680" cy="292608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472766" name="Connector 13"/>
          <p:cNvCxnSpPr/>
          <p:nvPr/>
        </p:nvCxnSpPr>
        <p:spPr bwMode="auto">
          <a:xfrm flipH="1">
            <a:off x="7726679" y="3566160"/>
            <a:ext cx="868681" cy="292608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09708" name="Rectangle 14"/>
          <p:cNvSpPr/>
          <p:nvPr/>
        </p:nvSpPr>
        <p:spPr bwMode="auto">
          <a:xfrm>
            <a:off x="2148840" y="3858768"/>
            <a:ext cx="7909560" cy="1024128"/>
          </a:xfrm>
          <a:prstGeom prst="rect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150" b="1" i="0">
                <a:solidFill>
                  <a:srgbClr val="0F766E"/>
                </a:solidFill>
                <a:latin typeface="Segoe UI"/>
              </a:rPr>
              <a:t>SCHEDULER LOOP   ·   singleton, control plane</a:t>
            </a:r>
            <a:endParaRPr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>
                <a:solidFill>
                  <a:srgbClr val="0F766E"/>
                </a:solidFill>
                <a:latin typeface="Consolas"/>
              </a:rPr>
              <a:t>1 </a:t>
            </a:r>
            <a:r>
              <a:rPr sz="1050" b="0">
                <a:solidFill>
                  <a:srgbClr val="0F172A"/>
                </a:solidFill>
                <a:latin typeface="Segoe UI"/>
              </a:rPr>
              <a:t>lease job    </a:t>
            </a:r>
            <a:r>
              <a:rPr sz="1050" b="1">
                <a:solidFill>
                  <a:srgbClr val="0F766E"/>
                </a:solidFill>
                <a:latin typeface="Consolas"/>
              </a:rPr>
              <a:t>2 </a:t>
            </a:r>
            <a:r>
              <a:rPr sz="1050" b="0">
                <a:solidFill>
                  <a:srgbClr val="0F172A"/>
                </a:solidFill>
                <a:latin typeface="Segoe UI"/>
              </a:rPr>
              <a:t>snapshot fleet    </a:t>
            </a:r>
            <a:r>
              <a:rPr sz="1050" b="1">
                <a:solidFill>
                  <a:srgbClr val="0F766E"/>
                </a:solidFill>
                <a:latin typeface="Consolas"/>
              </a:rPr>
              <a:t>3 </a:t>
            </a:r>
            <a:r>
              <a:rPr sz="1050" b="0">
                <a:solidFill>
                  <a:srgbClr val="0F172A"/>
                </a:solidFill>
                <a:latin typeface="Segoe UI"/>
              </a:rPr>
              <a:t>filter infeasible    </a:t>
            </a:r>
            <a:r>
              <a:rPr sz="1050" b="1">
                <a:solidFill>
                  <a:srgbClr val="0F766E"/>
                </a:solidFill>
                <a:latin typeface="Consolas"/>
              </a:rPr>
              <a:t>4 </a:t>
            </a:r>
            <a:r>
              <a:rPr sz="1050" b="0">
                <a:solidFill>
                  <a:srgbClr val="0F172A"/>
                </a:solidFill>
                <a:latin typeface="Segoe UI"/>
              </a:rPr>
              <a:t>score candidates    </a:t>
            </a:r>
            <a:r>
              <a:rPr sz="1050" b="1">
                <a:solidFill>
                  <a:srgbClr val="0F766E"/>
                </a:solidFill>
                <a:latin typeface="Consolas"/>
              </a:rPr>
              <a:t>5 </a:t>
            </a:r>
            <a:r>
              <a:rPr sz="1050" b="0">
                <a:solidFill>
                  <a:srgbClr val="0F172A"/>
                </a:solidFill>
                <a:latin typeface="Segoe UI"/>
              </a:rPr>
              <a:t>persist trace    </a:t>
            </a:r>
            <a:r>
              <a:rPr sz="1050" b="1">
                <a:solidFill>
                  <a:srgbClr val="0F766E"/>
                </a:solidFill>
                <a:latin typeface="Consolas"/>
              </a:rPr>
              <a:t>6 </a:t>
            </a:r>
            <a:r>
              <a:rPr sz="1050" b="0">
                <a:solidFill>
                  <a:srgbClr val="0F172A"/>
                </a:solidFill>
                <a:latin typeface="Segoe UI"/>
              </a:rPr>
              <a:t>dispatch</a:t>
            </a:r>
            <a:endParaRPr/>
          </a:p>
        </p:txBody>
      </p:sp>
      <p:sp>
        <p:nvSpPr>
          <p:cNvPr id="1958770947" name="TextBox 15"/>
          <p:cNvSpPr txBox="1"/>
          <p:nvPr/>
        </p:nvSpPr>
        <p:spPr bwMode="auto">
          <a:xfrm>
            <a:off x="10195560" y="4041648"/>
            <a:ext cx="1234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Segoe UI"/>
              </a:rPr>
              <a:t>push</a:t>
            </a:r>
            <a:br>
              <a:rPr sz="900" b="0" i="0">
                <a:solidFill>
                  <a:srgbClr val="64748B"/>
                </a:solidFill>
                <a:latin typeface="Segoe UI"/>
              </a:rPr>
            </a:br>
            <a:r>
              <a:rPr sz="900" b="0" i="0">
                <a:solidFill>
                  <a:srgbClr val="64748B"/>
                </a:solidFill>
                <a:latin typeface="Segoe UI"/>
              </a:rPr>
              <a:t>dispatch —</a:t>
            </a:r>
            <a:br>
              <a:rPr sz="900" b="0" i="0">
                <a:solidFill>
                  <a:srgbClr val="64748B"/>
                </a:solidFill>
                <a:latin typeface="Segoe UI"/>
              </a:rPr>
            </a:br>
            <a:r>
              <a:rPr sz="900" b="0" i="0">
                <a:solidFill>
                  <a:srgbClr val="64748B"/>
                </a:solidFill>
                <a:latin typeface="Segoe UI"/>
              </a:rPr>
              <a:t>workers never</a:t>
            </a:r>
            <a:br>
              <a:rPr sz="900" b="0" i="0">
                <a:solidFill>
                  <a:srgbClr val="64748B"/>
                </a:solidFill>
                <a:latin typeface="Segoe UI"/>
              </a:rPr>
            </a:br>
            <a:r>
              <a:rPr sz="900" b="0" i="0">
                <a:solidFill>
                  <a:srgbClr val="64748B"/>
                </a:solidFill>
                <a:latin typeface="Segoe UI"/>
              </a:rPr>
              <a:t>pull</a:t>
            </a:r>
            <a:endParaRPr/>
          </a:p>
        </p:txBody>
      </p:sp>
      <p:cxnSp>
        <p:nvCxnSpPr>
          <p:cNvPr id="1024207925" name="Connector 16"/>
          <p:cNvCxnSpPr/>
          <p:nvPr/>
        </p:nvCxnSpPr>
        <p:spPr bwMode="auto">
          <a:xfrm flipH="1">
            <a:off x="4206240" y="4882896"/>
            <a:ext cx="1892808" cy="347472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567722" name="Connector 17"/>
          <p:cNvCxnSpPr/>
          <p:nvPr/>
        </p:nvCxnSpPr>
        <p:spPr bwMode="auto">
          <a:xfrm>
            <a:off x="6099048" y="4882896"/>
            <a:ext cx="612648" cy="347472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4957945" name="Connector 18"/>
          <p:cNvCxnSpPr/>
          <p:nvPr/>
        </p:nvCxnSpPr>
        <p:spPr bwMode="auto">
          <a:xfrm>
            <a:off x="6099048" y="4882896"/>
            <a:ext cx="3118104" cy="347472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955515" name="Rectangle 19"/>
          <p:cNvSpPr/>
          <p:nvPr/>
        </p:nvSpPr>
        <p:spPr bwMode="auto">
          <a:xfrm>
            <a:off x="3200400" y="5230368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050" b="1">
                <a:solidFill>
                  <a:srgbClr val="0F172A"/>
                </a:solidFill>
                <a:latin typeface="Segoe UI"/>
              </a:rPr>
              <a:t>WORKER 1</a:t>
            </a:r>
            <a:endParaRPr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850" b="0">
                <a:solidFill>
                  <a:srgbClr val="64748B"/>
                </a:solidFill>
                <a:latin typeface="Segoe UI"/>
              </a:rPr>
              <a:t>executor  ·  telemetry  ·  heartbeat</a:t>
            </a:r>
            <a:endParaRPr/>
          </a:p>
        </p:txBody>
      </p:sp>
      <p:sp>
        <p:nvSpPr>
          <p:cNvPr id="9399357" name="Rectangle 20"/>
          <p:cNvSpPr/>
          <p:nvPr/>
        </p:nvSpPr>
        <p:spPr bwMode="auto">
          <a:xfrm>
            <a:off x="5705856" y="5230368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050" b="1">
                <a:solidFill>
                  <a:srgbClr val="0F172A"/>
                </a:solidFill>
                <a:latin typeface="Segoe UI"/>
              </a:rPr>
              <a:t>WORKER 2</a:t>
            </a:r>
            <a:endParaRPr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850" b="0">
                <a:solidFill>
                  <a:srgbClr val="64748B"/>
                </a:solidFill>
                <a:latin typeface="Segoe UI"/>
              </a:rPr>
              <a:t>executor  ·  telemetry  ·  heartbeat</a:t>
            </a:r>
            <a:endParaRPr/>
          </a:p>
        </p:txBody>
      </p:sp>
      <p:sp>
        <p:nvSpPr>
          <p:cNvPr id="666421087" name="Rectangle 21"/>
          <p:cNvSpPr/>
          <p:nvPr/>
        </p:nvSpPr>
        <p:spPr bwMode="auto">
          <a:xfrm>
            <a:off x="8211312" y="5230368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050" b="1">
                <a:solidFill>
                  <a:srgbClr val="0F172A"/>
                </a:solidFill>
                <a:latin typeface="Segoe UI"/>
              </a:rPr>
              <a:t>WORKER 3</a:t>
            </a:r>
            <a:endParaRPr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850" b="0">
                <a:solidFill>
                  <a:srgbClr val="64748B"/>
                </a:solidFill>
                <a:latin typeface="Segoe UI"/>
              </a:rPr>
              <a:t>executor  ·  telemetry  ·  heartbeat</a:t>
            </a:r>
            <a:endParaRPr/>
          </a:p>
        </p:txBody>
      </p:sp>
      <p:cxnSp>
        <p:nvCxnSpPr>
          <p:cNvPr id="146595802" name="Connector 22"/>
          <p:cNvCxnSpPr/>
          <p:nvPr/>
        </p:nvCxnSpPr>
        <p:spPr bwMode="auto">
          <a:xfrm flipH="0" flipV="0">
            <a:off x="4206240" y="5943600"/>
            <a:ext cx="2273476" cy="301564"/>
          </a:xfrm>
          <a:prstGeom prst="line">
            <a:avLst/>
          </a:prstGeom>
          <a:ln w="127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399140" name="Connector 23"/>
          <p:cNvCxnSpPr/>
          <p:nvPr/>
        </p:nvCxnSpPr>
        <p:spPr bwMode="auto">
          <a:xfrm flipH="1" flipV="0">
            <a:off x="6479716" y="5943600"/>
            <a:ext cx="306324" cy="301564"/>
          </a:xfrm>
          <a:prstGeom prst="line">
            <a:avLst/>
          </a:prstGeom>
          <a:ln w="127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9637242" name="Connector 24"/>
          <p:cNvCxnSpPr/>
          <p:nvPr/>
        </p:nvCxnSpPr>
        <p:spPr bwMode="auto">
          <a:xfrm flipH="1" flipV="0">
            <a:off x="6479716" y="5943599"/>
            <a:ext cx="2737434" cy="301564"/>
          </a:xfrm>
          <a:prstGeom prst="line">
            <a:avLst/>
          </a:prstGeom>
          <a:ln w="127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119350" name="TextBox 25"/>
          <p:cNvSpPr txBox="1"/>
          <p:nvPr/>
        </p:nvSpPr>
        <p:spPr bwMode="auto">
          <a:xfrm>
            <a:off x="4864607" y="63276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50" b="0" i="0">
                <a:solidFill>
                  <a:srgbClr val="0F766E"/>
                </a:solidFill>
                <a:latin typeface="Segoe UI"/>
              </a:rPr>
              <a:t>telemetry + heartbeat + result  →  StateStore</a:t>
            </a:r>
            <a:endParaRPr/>
          </a:p>
        </p:txBody>
      </p:sp>
      <p:sp>
        <p:nvSpPr>
          <p:cNvPr id="432052097" name="TextBox 26"/>
          <p:cNvSpPr txBox="1"/>
          <p:nvPr/>
        </p:nvSpPr>
        <p:spPr bwMode="auto">
          <a:xfrm>
            <a:off x="777240" y="5248656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950" b="1" i="0">
                <a:solidFill>
                  <a:srgbClr val="64748B"/>
                </a:solidFill>
                <a:latin typeface="Segoe UI"/>
              </a:rPr>
              <a:t>DATA PLANE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50" b="0" i="0">
                <a:solidFill>
                  <a:srgbClr val="64748B"/>
                </a:solidFill>
                <a:latin typeface="Segoe UI"/>
              </a:rPr>
              <a:t>Accepts, executes, reports. Never chooses what to run.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420702" name="Rectangle 1"/>
          <p:cNvSpPr/>
          <p:nvPr/>
        </p:nvSpPr>
        <p:spPr bwMode="auto"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9349161" name="TextBox 2"/>
          <p:cNvSpPr txBox="1"/>
          <p:nvPr/>
        </p:nvSpPr>
        <p:spPr bwMode="auto">
          <a:xfrm>
            <a:off x="777240" y="38404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050" b="1" i="0">
                <a:solidFill>
                  <a:srgbClr val="0F766E"/>
                </a:solidFill>
                <a:latin typeface="Segoe UI"/>
              </a:rPr>
              <a:t>SYSTEM ARCHITECTURE DESIGN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 i="0">
                <a:solidFill>
                  <a:srgbClr val="0F172A"/>
                </a:solidFill>
                <a:latin typeface="Segoe UI"/>
              </a:rPr>
              <a:t>The information boundary is the experiment</a:t>
            </a:r>
            <a:endParaRPr/>
          </a:p>
        </p:txBody>
      </p:sp>
      <p:cxnSp>
        <p:nvCxnSpPr>
          <p:cNvPr id="219638166" name="Connector 3"/>
          <p:cNvCxnSpPr/>
          <p:nvPr/>
        </p:nvCxnSpPr>
        <p:spPr bwMode="auto">
          <a:xfrm>
            <a:off x="777240" y="1389888"/>
            <a:ext cx="106344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991272" name="TextBox 4"/>
          <p:cNvSpPr txBox="1"/>
          <p:nvPr/>
        </p:nvSpPr>
        <p:spPr bwMode="auto">
          <a:xfrm>
            <a:off x="777240" y="63276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Segoe UI"/>
              </a:rPr>
              <a:t>Nimbus  ·  Review 1  ·  06</a:t>
            </a:r>
            <a:endParaRPr/>
          </a:p>
        </p:txBody>
      </p:sp>
      <p:sp>
        <p:nvSpPr>
          <p:cNvPr id="2093723945" name="TextBox 5"/>
          <p:cNvSpPr txBox="1"/>
          <p:nvPr/>
        </p:nvSpPr>
        <p:spPr bwMode="auto">
          <a:xfrm>
            <a:off x="777240" y="1664208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50" b="0" i="0">
                <a:solidFill>
                  <a:srgbClr val="334155"/>
                </a:solidFill>
                <a:latin typeface="Segoe UI"/>
              </a:rPr>
              <a:t>Worker state is split into three categories that are never conflated, because the central experiment depends on telling them apart. A placement policy never receives raw worker state — it declares its information budget through a view.</a:t>
            </a:r>
            <a:endParaRPr/>
          </a:p>
        </p:txBody>
      </p:sp>
      <p:sp>
        <p:nvSpPr>
          <p:cNvPr id="1091756196" name="Rectangle 6"/>
          <p:cNvSpPr/>
          <p:nvPr/>
        </p:nvSpPr>
        <p:spPr bwMode="auto">
          <a:xfrm>
            <a:off x="777240" y="2340864"/>
            <a:ext cx="3392424" cy="18836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0" rIns="219456" bIns="36576" rtlCol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 i="0">
                <a:solidFill>
                  <a:srgbClr val="0F172A"/>
                </a:solidFill>
                <a:latin typeface="Segoe UI"/>
              </a:rPr>
              <a:t>DECLARED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Operator configuration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1100" b="0" i="0">
                <a:solidFill>
                  <a:srgbClr val="334155"/>
                </a:solidFill>
                <a:latin typeface="Segoe UI"/>
              </a:rPr>
              <a:t>vCPU, memory and slot capacity set at</a:t>
            </a:r>
            <a:br>
              <a:rPr sz="1100" b="0" i="0">
                <a:solidFill>
                  <a:srgbClr val="334155"/>
                </a:solidFill>
                <a:latin typeface="Segoe UI"/>
              </a:rPr>
            </a:br>
            <a:r>
              <a:rPr sz="1100" b="0" i="0">
                <a:solidFill>
                  <a:srgbClr val="334155"/>
                </a:solidFill>
                <a:latin typeface="Segoe UI"/>
              </a:rPr>
              <a:t>registration. Never changes at runtime.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>
                <a:solidFill>
                  <a:srgbClr val="64748B"/>
                </a:solidFill>
                <a:latin typeface="Segoe UI"/>
              </a:rPr>
              <a:t>→  </a:t>
            </a:r>
            <a:r>
              <a:rPr sz="1050" b="1">
                <a:solidFill>
                  <a:srgbClr val="64748B"/>
                </a:solidFill>
                <a:latin typeface="Segoe UI"/>
              </a:rPr>
              <a:t>read by every policy</a:t>
            </a:r>
            <a:endParaRPr/>
          </a:p>
        </p:txBody>
      </p:sp>
      <p:sp>
        <p:nvSpPr>
          <p:cNvPr id="1993590404" name="Rectangle 7"/>
          <p:cNvSpPr/>
          <p:nvPr/>
        </p:nvSpPr>
        <p:spPr bwMode="auto">
          <a:xfrm>
            <a:off x="4398264" y="2340864"/>
            <a:ext cx="3392424" cy="18836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0" rIns="219456" bIns="36576" rtlCol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 i="0">
                <a:solidFill>
                  <a:srgbClr val="0F172A"/>
                </a:solidFill>
                <a:latin typeface="Segoe UI"/>
              </a:rPr>
              <a:t>RESERVED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Nimbus bookkeeping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Sum of what Nimbus has dispatched and</a:t>
            </a:r>
            <a:br>
              <a:rPr sz="1100" b="0" i="0">
                <a:solidFill>
                  <a:srgbClr val="334155"/>
                </a:solidFill>
                <a:latin typeface="Segoe UI"/>
              </a:rPr>
            </a:br>
            <a:r>
              <a:rPr sz="1100" b="0" i="0">
                <a:solidFill>
                  <a:srgbClr val="334155"/>
                </a:solidFill>
                <a:latin typeface="Segoe UI"/>
              </a:rPr>
              <a:t>not yet reclaimed. reserve() / release().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>
                <a:solidFill>
                  <a:srgbClr val="64748B"/>
                </a:solidFill>
                <a:latin typeface="Segoe UI"/>
              </a:rPr>
              <a:t>→  </a:t>
            </a:r>
            <a:r>
              <a:rPr sz="1050" b="1">
                <a:solidFill>
                  <a:srgbClr val="64748B"/>
                </a:solidFill>
                <a:latin typeface="Segoe UI"/>
              </a:rPr>
              <a:t>read by every policy</a:t>
            </a:r>
            <a:endParaRPr/>
          </a:p>
        </p:txBody>
      </p:sp>
      <p:sp>
        <p:nvSpPr>
          <p:cNvPr id="341867716" name="Rectangle 8"/>
          <p:cNvSpPr/>
          <p:nvPr/>
        </p:nvSpPr>
        <p:spPr bwMode="auto">
          <a:xfrm>
            <a:off x="8019288" y="2340864"/>
            <a:ext cx="3392424" cy="1883664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0" rIns="219456" bIns="36576" rtlCol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1500" b="1" i="0">
                <a:solidFill>
                  <a:srgbClr val="0F766E"/>
                </a:solidFill>
                <a:latin typeface="Segoe UI"/>
              </a:rPr>
              <a:t>OBSERVED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1000" b="0" i="0">
                <a:solidFill>
                  <a:srgbClr val="0F766E"/>
                </a:solidFill>
                <a:latin typeface="Segoe UI"/>
              </a:rPr>
              <a:t>psutil, sampled live</a:t>
            </a:r>
            <a:endParaRPr/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Smoothed CPU mean, memory pressure and</a:t>
            </a:r>
            <a:br>
              <a:rPr sz="1100" b="0" i="0">
                <a:solidFill>
                  <a:srgbClr val="334155"/>
                </a:solidFill>
                <a:latin typeface="Segoe UI"/>
              </a:rPr>
            </a:br>
            <a:r>
              <a:rPr sz="1100" b="0" i="0">
                <a:solidFill>
                  <a:srgbClr val="334155"/>
                </a:solidFill>
                <a:latin typeface="Segoe UI"/>
              </a:rPr>
              <a:t>least-squares trend over the last N samples.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>
                <a:solidFill>
                  <a:srgbClr val="0F766E"/>
                </a:solidFill>
                <a:latin typeface="Segoe UI"/>
              </a:rPr>
              <a:t>→  </a:t>
            </a:r>
            <a:r>
              <a:rPr sz="1050" b="1">
                <a:solidFill>
                  <a:srgbClr val="0F766E"/>
                </a:solidFill>
                <a:latin typeface="Segoe UI"/>
              </a:rPr>
              <a:t>read by adaptive-v1 only</a:t>
            </a:r>
            <a:endParaRPr/>
          </a:p>
        </p:txBody>
      </p:sp>
      <p:sp>
        <p:nvSpPr>
          <p:cNvPr id="285313287" name="TextBox 9"/>
          <p:cNvSpPr txBox="1"/>
          <p:nvPr/>
        </p:nvSpPr>
        <p:spPr bwMode="auto">
          <a:xfrm>
            <a:off x="777240" y="4334256"/>
            <a:ext cx="10634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1" i="0">
                <a:solidFill>
                  <a:srgbClr val="0F172A"/>
                </a:solidFill>
                <a:latin typeface="Segoe UI"/>
              </a:rPr>
              <a:t>Two views, pinned by tests, enforce that boundary:</a:t>
            </a:r>
            <a:endParaRPr/>
          </a:p>
        </p:txBody>
      </p:sp>
      <p:sp>
        <p:nvSpPr>
          <p:cNvPr id="1322996287" name="Rectangle 10"/>
          <p:cNvSpPr/>
          <p:nvPr/>
        </p:nvSpPr>
        <p:spPr bwMode="auto">
          <a:xfrm>
            <a:off x="777240" y="4663440"/>
            <a:ext cx="1063447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StaticWorkerView      </a:t>
            </a:r>
            <a:r>
              <a:rPr sz="1100" b="0">
                <a:solidFill>
                  <a:srgbClr val="334155"/>
                </a:solidFill>
                <a:latin typeface="Segoe UI"/>
              </a:rPr>
              <a:t>  round_robin, static_resource_aware, static_resource_aware_binpack</a:t>
            </a:r>
            <a:r>
              <a:rPr sz="1100" b="0">
                <a:solidFill>
                  <a:srgbClr val="64748B"/>
                </a:solidFill>
                <a:latin typeface="Segoe UI"/>
              </a:rPr>
              <a:t>      sees:  </a:t>
            </a:r>
            <a:r>
              <a:rPr sz="1100" b="1">
                <a:solidFill>
                  <a:srgbClr val="64748B"/>
                </a:solidFill>
                <a:latin typeface="Segoe UI"/>
              </a:rPr>
              <a:t>DECLARED + RESERVED</a:t>
            </a:r>
            <a:endParaRPr/>
          </a:p>
        </p:txBody>
      </p:sp>
      <p:sp>
        <p:nvSpPr>
          <p:cNvPr id="408429621" name="Rectangle 11"/>
          <p:cNvSpPr/>
          <p:nvPr/>
        </p:nvSpPr>
        <p:spPr bwMode="auto">
          <a:xfrm>
            <a:off x="777240" y="5175504"/>
            <a:ext cx="1063447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0F766E"/>
                </a:solidFill>
                <a:latin typeface="Consolas"/>
              </a:rPr>
              <a:t>AdaptiveWorkerView    </a:t>
            </a:r>
            <a:r>
              <a:rPr sz="1100" b="0">
                <a:solidFill>
                  <a:srgbClr val="334155"/>
                </a:solidFill>
                <a:latin typeface="Segoe UI"/>
              </a:rPr>
              <a:t>  adaptive  (adaptive-v1)</a:t>
            </a:r>
            <a:r>
              <a:rPr sz="1100" b="0">
                <a:solidFill>
                  <a:srgbClr val="64748B"/>
                </a:solidFill>
                <a:latin typeface="Segoe UI"/>
              </a:rPr>
              <a:t>      sees:  </a:t>
            </a:r>
            <a:r>
              <a:rPr sz="1100" b="1">
                <a:solidFill>
                  <a:srgbClr val="0F766E"/>
                </a:solidFill>
                <a:latin typeface="Segoe UI"/>
              </a:rPr>
              <a:t>DECLARED + RESERVED + OBSERVED + telemetry quality</a:t>
            </a:r>
            <a:endParaRPr/>
          </a:p>
        </p:txBody>
      </p:sp>
      <p:sp>
        <p:nvSpPr>
          <p:cNvPr id="260923211" name="Rectangle 12"/>
          <p:cNvSpPr/>
          <p:nvPr/>
        </p:nvSpPr>
        <p:spPr bwMode="auto">
          <a:xfrm>
            <a:off x="777240" y="5724144"/>
            <a:ext cx="10634472" cy="5120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36576" rIns="201168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0F172A"/>
                </a:solidFill>
                <a:latin typeface="Segoe UI"/>
              </a:rPr>
              <a:t>Recorded ≠ consumed.  </a:t>
            </a:r>
            <a:r>
              <a:rPr sz="1100" b="0">
                <a:solidFill>
                  <a:srgbClr val="334155"/>
                </a:solidFill>
                <a:latin typeface="Segoe UI"/>
              </a:rPr>
              <a:t>Traces record all three categories for every candidate, written after the policy has returned — so replay can prove which fields a decision actually depended 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107630" name="Rectangle 1"/>
          <p:cNvSpPr/>
          <p:nvPr/>
        </p:nvSpPr>
        <p:spPr bwMode="auto"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9876616" name="TextBox 2"/>
          <p:cNvSpPr txBox="1"/>
          <p:nvPr/>
        </p:nvSpPr>
        <p:spPr bwMode="auto">
          <a:xfrm>
            <a:off x="777240" y="38404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050" b="1" i="0">
                <a:solidFill>
                  <a:srgbClr val="0F766E"/>
                </a:solidFill>
                <a:latin typeface="Segoe UI"/>
              </a:rPr>
              <a:t>SYSTEM ARCHITECTURE DESIGN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 i="0">
                <a:solidFill>
                  <a:srgbClr val="0F172A"/>
                </a:solidFill>
                <a:latin typeface="Segoe UI"/>
              </a:rPr>
              <a:t>Ordering and placement are separate objects</a:t>
            </a:r>
            <a:endParaRPr/>
          </a:p>
        </p:txBody>
      </p:sp>
      <p:cxnSp>
        <p:nvCxnSpPr>
          <p:cNvPr id="489417137" name="Connector 3"/>
          <p:cNvCxnSpPr/>
          <p:nvPr/>
        </p:nvCxnSpPr>
        <p:spPr bwMode="auto">
          <a:xfrm>
            <a:off x="777240" y="1389888"/>
            <a:ext cx="106344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4459661" name="TextBox 4"/>
          <p:cNvSpPr txBox="1"/>
          <p:nvPr/>
        </p:nvSpPr>
        <p:spPr bwMode="auto">
          <a:xfrm>
            <a:off x="777240" y="63276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Segoe UI"/>
              </a:rPr>
              <a:t>Nimbus  ·  Review 1  ·  07</a:t>
            </a:r>
            <a:endParaRPr/>
          </a:p>
        </p:txBody>
      </p:sp>
      <p:sp>
        <p:nvSpPr>
          <p:cNvPr id="928623359" name="TextBox 5"/>
          <p:cNvSpPr txBox="1"/>
          <p:nvPr/>
        </p:nvSpPr>
        <p:spPr bwMode="auto">
          <a:xfrm>
            <a:off x="777240" y="1645920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50" b="0" i="0">
                <a:solidFill>
                  <a:srgbClr val="334155"/>
                </a:solidFill>
                <a:latin typeface="Segoe UI"/>
              </a:rPr>
              <a:t>Every strategy uses FIFO ordering, so a comparison isolates placement — the only variable is what the policy may see.</a:t>
            </a:r>
            <a:endParaRPr/>
          </a:p>
        </p:txBody>
      </p:sp>
      <p:sp>
        <p:nvSpPr>
          <p:cNvPr id="702034230" name="Rectangle 6"/>
          <p:cNvSpPr/>
          <p:nvPr/>
        </p:nvSpPr>
        <p:spPr bwMode="auto">
          <a:xfrm>
            <a:off x="777240" y="2157984"/>
            <a:ext cx="2788920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Strategy</a:t>
            </a:r>
            <a:endParaRPr/>
          </a:p>
        </p:txBody>
      </p:sp>
      <p:sp>
        <p:nvSpPr>
          <p:cNvPr id="547301601" name="Rectangle 7"/>
          <p:cNvSpPr/>
          <p:nvPr/>
        </p:nvSpPr>
        <p:spPr bwMode="auto">
          <a:xfrm>
            <a:off x="3566160" y="2157984"/>
            <a:ext cx="3794760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Placement</a:t>
            </a:r>
            <a:endParaRPr/>
          </a:p>
        </p:txBody>
      </p:sp>
      <p:sp>
        <p:nvSpPr>
          <p:cNvPr id="634890627" name="Rectangle 8"/>
          <p:cNvSpPr/>
          <p:nvPr/>
        </p:nvSpPr>
        <p:spPr bwMode="auto">
          <a:xfrm>
            <a:off x="7360920" y="2157984"/>
            <a:ext cx="2606040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Sees</a:t>
            </a:r>
            <a:endParaRPr/>
          </a:p>
        </p:txBody>
      </p:sp>
      <p:sp>
        <p:nvSpPr>
          <p:cNvPr id="2046198613" name="Rectangle 9"/>
          <p:cNvSpPr/>
          <p:nvPr/>
        </p:nvSpPr>
        <p:spPr bwMode="auto">
          <a:xfrm>
            <a:off x="9966960" y="2157984"/>
            <a:ext cx="1444752" cy="3108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Status</a:t>
            </a:r>
            <a:endParaRPr/>
          </a:p>
        </p:txBody>
      </p:sp>
      <p:sp>
        <p:nvSpPr>
          <p:cNvPr id="388807560" name="Rectangle 10"/>
          <p:cNvSpPr/>
          <p:nvPr/>
        </p:nvSpPr>
        <p:spPr bwMode="auto">
          <a:xfrm>
            <a:off x="777240" y="2468879"/>
            <a:ext cx="2788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>
                <a:solidFill>
                  <a:srgbClr val="64748B"/>
                </a:solidFill>
                <a:latin typeface="Consolas"/>
              </a:rPr>
              <a:t>fifo</a:t>
            </a:r>
            <a:endParaRPr/>
          </a:p>
        </p:txBody>
      </p:sp>
      <p:sp>
        <p:nvSpPr>
          <p:cNvPr id="981937358" name="Rectangle 11"/>
          <p:cNvSpPr/>
          <p:nvPr/>
        </p:nvSpPr>
        <p:spPr bwMode="auto">
          <a:xfrm>
            <a:off x="3566160" y="2468879"/>
            <a:ext cx="37947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334155"/>
                </a:solidFill>
                <a:latin typeface="Segoe UI"/>
              </a:rPr>
              <a:t>round-robin rotation</a:t>
            </a:r>
            <a:endParaRPr/>
          </a:p>
        </p:txBody>
      </p:sp>
      <p:sp>
        <p:nvSpPr>
          <p:cNvPr id="964329988" name="Rectangle 12"/>
          <p:cNvSpPr/>
          <p:nvPr/>
        </p:nvSpPr>
        <p:spPr bwMode="auto">
          <a:xfrm>
            <a:off x="7360920" y="2468879"/>
            <a:ext cx="2606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334155"/>
                </a:solidFill>
                <a:latin typeface="Segoe UI"/>
              </a:rPr>
              <a:t>DECLARED + RESERVED</a:t>
            </a:r>
            <a:endParaRPr/>
          </a:p>
        </p:txBody>
      </p:sp>
      <p:sp>
        <p:nvSpPr>
          <p:cNvPr id="395930078" name="Rectangle 13"/>
          <p:cNvSpPr/>
          <p:nvPr/>
        </p:nvSpPr>
        <p:spPr bwMode="auto">
          <a:xfrm>
            <a:off x="9966960" y="2468879"/>
            <a:ext cx="144475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64748B"/>
                </a:solidFill>
                <a:latin typeface="Segoe UI"/>
              </a:rPr>
              <a:t>implemented</a:t>
            </a:r>
            <a:endParaRPr/>
          </a:p>
        </p:txBody>
      </p:sp>
      <p:sp>
        <p:nvSpPr>
          <p:cNvPr id="1454385591" name="Rectangle 14"/>
          <p:cNvSpPr/>
          <p:nvPr/>
        </p:nvSpPr>
        <p:spPr bwMode="auto">
          <a:xfrm>
            <a:off x="777240" y="2816351"/>
            <a:ext cx="278892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>
                <a:solidFill>
                  <a:srgbClr val="64748B"/>
                </a:solidFill>
                <a:latin typeface="Consolas"/>
              </a:rPr>
              <a:t>static_resource_aware</a:t>
            </a:r>
            <a:endParaRPr/>
          </a:p>
        </p:txBody>
      </p:sp>
      <p:sp>
        <p:nvSpPr>
          <p:cNvPr id="1427018609" name="Rectangle 15"/>
          <p:cNvSpPr/>
          <p:nvPr/>
        </p:nvSpPr>
        <p:spPr bwMode="auto">
          <a:xfrm>
            <a:off x="3566160" y="2816351"/>
            <a:ext cx="37947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334155"/>
                </a:solidFill>
                <a:latin typeface="Segoe UI"/>
              </a:rPr>
              <a:t>balance on projected utilisation</a:t>
            </a:r>
            <a:endParaRPr/>
          </a:p>
        </p:txBody>
      </p:sp>
      <p:sp>
        <p:nvSpPr>
          <p:cNvPr id="1916309262" name="Rectangle 16"/>
          <p:cNvSpPr/>
          <p:nvPr/>
        </p:nvSpPr>
        <p:spPr bwMode="auto">
          <a:xfrm>
            <a:off x="7360920" y="2816351"/>
            <a:ext cx="260604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334155"/>
                </a:solidFill>
                <a:latin typeface="Segoe UI"/>
              </a:rPr>
              <a:t>DECLARED + RESERVED</a:t>
            </a:r>
            <a:endParaRPr/>
          </a:p>
        </p:txBody>
      </p:sp>
      <p:sp>
        <p:nvSpPr>
          <p:cNvPr id="1654346067" name="Rectangle 17"/>
          <p:cNvSpPr/>
          <p:nvPr/>
        </p:nvSpPr>
        <p:spPr bwMode="auto">
          <a:xfrm>
            <a:off x="9966960" y="2816351"/>
            <a:ext cx="1444752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64748B"/>
                </a:solidFill>
                <a:latin typeface="Segoe UI"/>
              </a:rPr>
              <a:t>implemented</a:t>
            </a:r>
            <a:endParaRPr/>
          </a:p>
        </p:txBody>
      </p:sp>
      <p:sp>
        <p:nvSpPr>
          <p:cNvPr id="338950320" name="Rectangle 18"/>
          <p:cNvSpPr/>
          <p:nvPr/>
        </p:nvSpPr>
        <p:spPr bwMode="auto">
          <a:xfrm>
            <a:off x="777240" y="3163823"/>
            <a:ext cx="2788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>
                <a:solidFill>
                  <a:srgbClr val="64748B"/>
                </a:solidFill>
                <a:latin typeface="Consolas"/>
              </a:rPr>
              <a:t>static_resource_aware_binpack</a:t>
            </a:r>
            <a:endParaRPr/>
          </a:p>
        </p:txBody>
      </p:sp>
      <p:sp>
        <p:nvSpPr>
          <p:cNvPr id="291453971" name="Rectangle 19"/>
          <p:cNvSpPr/>
          <p:nvPr/>
        </p:nvSpPr>
        <p:spPr bwMode="auto">
          <a:xfrm>
            <a:off x="3566160" y="3163823"/>
            <a:ext cx="37947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334155"/>
                </a:solidFill>
                <a:latin typeface="Segoe UI"/>
              </a:rPr>
              <a:t>ECS-style binpack</a:t>
            </a:r>
            <a:endParaRPr/>
          </a:p>
        </p:txBody>
      </p:sp>
      <p:sp>
        <p:nvSpPr>
          <p:cNvPr id="1511314517" name="Rectangle 20"/>
          <p:cNvSpPr/>
          <p:nvPr/>
        </p:nvSpPr>
        <p:spPr bwMode="auto">
          <a:xfrm>
            <a:off x="7360920" y="3163823"/>
            <a:ext cx="2606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334155"/>
                </a:solidFill>
                <a:latin typeface="Segoe UI"/>
              </a:rPr>
              <a:t>DECLARED + RESERVED</a:t>
            </a:r>
            <a:endParaRPr/>
          </a:p>
        </p:txBody>
      </p:sp>
      <p:sp>
        <p:nvSpPr>
          <p:cNvPr id="1055312794" name="Rectangle 21"/>
          <p:cNvSpPr/>
          <p:nvPr/>
        </p:nvSpPr>
        <p:spPr bwMode="auto">
          <a:xfrm>
            <a:off x="9966960" y="3163823"/>
            <a:ext cx="144475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0">
                <a:solidFill>
                  <a:srgbClr val="64748B"/>
                </a:solidFill>
                <a:latin typeface="Segoe UI"/>
              </a:rPr>
              <a:t>implemented</a:t>
            </a:r>
            <a:endParaRPr/>
          </a:p>
        </p:txBody>
      </p:sp>
      <p:sp>
        <p:nvSpPr>
          <p:cNvPr id="427961946" name="Rectangle 22"/>
          <p:cNvSpPr/>
          <p:nvPr/>
        </p:nvSpPr>
        <p:spPr bwMode="auto">
          <a:xfrm>
            <a:off x="777240" y="3511295"/>
            <a:ext cx="278892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>
                <a:solidFill>
                  <a:srgbClr val="0F766E"/>
                </a:solidFill>
                <a:latin typeface="Consolas"/>
              </a:rPr>
              <a:t>adaptive</a:t>
            </a:r>
            <a:endParaRPr/>
          </a:p>
        </p:txBody>
      </p:sp>
      <p:sp>
        <p:nvSpPr>
          <p:cNvPr id="1319821221" name="Rectangle 23"/>
          <p:cNvSpPr/>
          <p:nvPr/>
        </p:nvSpPr>
        <p:spPr bwMode="auto">
          <a:xfrm>
            <a:off x="3566160" y="3511295"/>
            <a:ext cx="37947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>
                <a:solidFill>
                  <a:srgbClr val="0F766E"/>
                </a:solidFill>
                <a:latin typeface="Segoe UI"/>
              </a:rPr>
              <a:t>adaptive-v1 weighted score</a:t>
            </a:r>
            <a:endParaRPr/>
          </a:p>
        </p:txBody>
      </p:sp>
      <p:sp>
        <p:nvSpPr>
          <p:cNvPr id="1540463087" name="Rectangle 24"/>
          <p:cNvSpPr/>
          <p:nvPr/>
        </p:nvSpPr>
        <p:spPr bwMode="auto">
          <a:xfrm>
            <a:off x="7360920" y="3511295"/>
            <a:ext cx="260604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>
                <a:solidFill>
                  <a:srgbClr val="0F766E"/>
                </a:solidFill>
                <a:latin typeface="Segoe UI"/>
              </a:rPr>
              <a:t>+ OBSERVED</a:t>
            </a:r>
            <a:endParaRPr/>
          </a:p>
        </p:txBody>
      </p:sp>
      <p:sp>
        <p:nvSpPr>
          <p:cNvPr id="1122112082" name="Rectangle 25"/>
          <p:cNvSpPr/>
          <p:nvPr/>
        </p:nvSpPr>
        <p:spPr bwMode="auto">
          <a:xfrm>
            <a:off x="9966960" y="3511295"/>
            <a:ext cx="1444752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0">
                <a:solidFill>
                  <a:srgbClr val="0F766E"/>
                </a:solidFill>
                <a:latin typeface="Segoe UI"/>
              </a:rPr>
              <a:t>implemented</a:t>
            </a:r>
            <a:endParaRPr/>
          </a:p>
        </p:txBody>
      </p:sp>
      <p:sp>
        <p:nvSpPr>
          <p:cNvPr id="574963308" name="Rectangle 26"/>
          <p:cNvSpPr/>
          <p:nvPr/>
        </p:nvSpPr>
        <p:spPr bwMode="auto">
          <a:xfrm>
            <a:off x="777240" y="3858768"/>
            <a:ext cx="2788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1" i="1">
                <a:solidFill>
                  <a:srgbClr val="94A3B8"/>
                </a:solidFill>
                <a:latin typeface="Consolas"/>
              </a:rPr>
              <a:t>priority</a:t>
            </a:r>
            <a:endParaRPr/>
          </a:p>
        </p:txBody>
      </p:sp>
      <p:sp>
        <p:nvSpPr>
          <p:cNvPr id="1648327047" name="Rectangle 27"/>
          <p:cNvSpPr/>
          <p:nvPr/>
        </p:nvSpPr>
        <p:spPr bwMode="auto">
          <a:xfrm>
            <a:off x="3566160" y="3858768"/>
            <a:ext cx="37947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1">
                <a:solidFill>
                  <a:srgbClr val="334155"/>
                </a:solidFill>
                <a:latin typeface="Segoe UI"/>
              </a:rPr>
              <a:t>priority + aging</a:t>
            </a:r>
            <a:endParaRPr/>
          </a:p>
        </p:txBody>
      </p:sp>
      <p:sp>
        <p:nvSpPr>
          <p:cNvPr id="189266513" name="Rectangle 28"/>
          <p:cNvSpPr/>
          <p:nvPr/>
        </p:nvSpPr>
        <p:spPr bwMode="auto">
          <a:xfrm>
            <a:off x="7360920" y="3858768"/>
            <a:ext cx="2606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1">
                <a:solidFill>
                  <a:srgbClr val="334155"/>
                </a:solidFill>
                <a:latin typeface="Segoe UI"/>
              </a:rPr>
              <a:t>—</a:t>
            </a:r>
            <a:endParaRPr/>
          </a:p>
        </p:txBody>
      </p:sp>
      <p:sp>
        <p:nvSpPr>
          <p:cNvPr id="378482056" name="Rectangle 29"/>
          <p:cNvSpPr/>
          <p:nvPr/>
        </p:nvSpPr>
        <p:spPr bwMode="auto">
          <a:xfrm>
            <a:off x="9966960" y="3858768"/>
            <a:ext cx="144475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 i="1">
                <a:solidFill>
                  <a:srgbClr val="94A3B8"/>
                </a:solidFill>
                <a:latin typeface="Segoe UI"/>
              </a:rPr>
              <a:t>not implemented</a:t>
            </a:r>
            <a:endParaRPr/>
          </a:p>
        </p:txBody>
      </p:sp>
      <p:sp>
        <p:nvSpPr>
          <p:cNvPr id="1232129904" name="TextBox 30"/>
          <p:cNvSpPr txBox="1"/>
          <p:nvPr/>
        </p:nvSpPr>
        <p:spPr bwMode="auto">
          <a:xfrm>
            <a:off x="777240" y="4352544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adaptive-v1 — score, frozen before the code was written</a:t>
            </a:r>
            <a:endParaRPr/>
          </a:p>
        </p:txBody>
      </p:sp>
      <p:sp>
        <p:nvSpPr>
          <p:cNvPr id="125662210" name="Rectangle 31"/>
          <p:cNvSpPr/>
          <p:nvPr/>
        </p:nvSpPr>
        <p:spPr bwMode="auto">
          <a:xfrm>
            <a:off x="777240" y="4645152"/>
            <a:ext cx="5212080" cy="117043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46304" rIns="73152" bIns="36576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950" b="0">
                <a:solidFill>
                  <a:srgbClr val="94A3B8"/>
                </a:solidFill>
                <a:latin typeface="Consolas"/>
              </a:rPr>
              <a:t>Score(w,j) = </a:t>
            </a:r>
            <a:r>
              <a:rPr sz="950" b="0">
                <a:solidFill>
                  <a:srgbClr val="CCFBF1"/>
                </a:solidFill>
                <a:latin typeface="Consolas"/>
              </a:rPr>
              <a:t>α · </a:t>
            </a:r>
            <a:r>
              <a:rPr sz="950" b="1">
                <a:solidFill>
                  <a:srgbClr val="FFFFFF"/>
                </a:solidFill>
                <a:latin typeface="Consolas"/>
              </a:rPr>
              <a:t>S_cpu          </a:t>
            </a:r>
            <a:r>
              <a:rPr sz="950" b="0">
                <a:solidFill>
                  <a:srgbClr val="94A3B8"/>
                </a:solidFill>
                <a:latin typeface="Segoe UI"/>
              </a:rPr>
              <a:t>observed, smoothed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950" b="0">
                <a:solidFill>
                  <a:srgbClr val="94A3B8"/>
                </a:solidFill>
                <a:latin typeface="Consolas"/>
              </a:rPr>
              <a:t>             + </a:t>
            </a:r>
            <a:r>
              <a:rPr sz="950" b="0">
                <a:solidFill>
                  <a:srgbClr val="CCFBF1"/>
                </a:solidFill>
                <a:latin typeface="Consolas"/>
              </a:rPr>
              <a:t>β · </a:t>
            </a:r>
            <a:r>
              <a:rPr sz="950" b="1">
                <a:solidFill>
                  <a:srgbClr val="FFFFFF"/>
                </a:solidFill>
                <a:latin typeface="Consolas"/>
              </a:rPr>
              <a:t>S_memory       </a:t>
            </a:r>
            <a:r>
              <a:rPr sz="950" b="0">
                <a:solidFill>
                  <a:srgbClr val="94A3B8"/>
                </a:solidFill>
                <a:latin typeface="Segoe UI"/>
              </a:rPr>
              <a:t>observed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950" b="0">
                <a:solidFill>
                  <a:srgbClr val="94A3B8"/>
                </a:solidFill>
                <a:latin typeface="Consolas"/>
              </a:rPr>
              <a:t>             + </a:t>
            </a:r>
            <a:r>
              <a:rPr sz="950" b="0">
                <a:solidFill>
                  <a:srgbClr val="CCFBF1"/>
                </a:solidFill>
                <a:latin typeface="Consolas"/>
              </a:rPr>
              <a:t>γ · </a:t>
            </a:r>
            <a:r>
              <a:rPr sz="950" b="1">
                <a:solidFill>
                  <a:srgbClr val="FFFFFF"/>
                </a:solidFill>
                <a:latin typeface="Consolas"/>
              </a:rPr>
              <a:t>S_reservation  </a:t>
            </a:r>
            <a:r>
              <a:rPr sz="950" b="0">
                <a:solidFill>
                  <a:srgbClr val="94A3B8"/>
                </a:solidFill>
                <a:latin typeface="Segoe UI"/>
              </a:rPr>
              <a:t>the static model, kept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950" b="0">
                <a:solidFill>
                  <a:srgbClr val="94A3B8"/>
                </a:solidFill>
                <a:latin typeface="Consolas"/>
              </a:rPr>
              <a:t>             + </a:t>
            </a:r>
            <a:r>
              <a:rPr sz="950" b="0">
                <a:solidFill>
                  <a:srgbClr val="CCFBF1"/>
                </a:solidFill>
                <a:latin typeface="Consolas"/>
              </a:rPr>
              <a:t>δ · </a:t>
            </a:r>
            <a:r>
              <a:rPr sz="950" b="1">
                <a:solidFill>
                  <a:srgbClr val="FFFFFF"/>
                </a:solidFill>
                <a:latin typeface="Consolas"/>
              </a:rPr>
              <a:t>S_queue        </a:t>
            </a:r>
            <a:r>
              <a:rPr sz="950" b="0">
                <a:solidFill>
                  <a:srgbClr val="94A3B8"/>
                </a:solidFill>
                <a:latin typeface="Segoe UI"/>
              </a:rPr>
              <a:t>declared + reserved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950" b="0">
                <a:solidFill>
                  <a:srgbClr val="94A3B8"/>
                </a:solidFill>
                <a:latin typeface="Consolas"/>
              </a:rPr>
              <a:t>             + </a:t>
            </a:r>
            <a:r>
              <a:rPr sz="950" b="0">
                <a:solidFill>
                  <a:srgbClr val="CCFBF1"/>
                </a:solidFill>
                <a:latin typeface="Consolas"/>
              </a:rPr>
              <a:t>ε · </a:t>
            </a:r>
            <a:r>
              <a:rPr sz="950" b="1">
                <a:solidFill>
                  <a:srgbClr val="FFFFFF"/>
                </a:solidFill>
                <a:latin typeface="Consolas"/>
              </a:rPr>
              <a:t>S_trend        </a:t>
            </a:r>
            <a:r>
              <a:rPr sz="950" b="0">
                <a:solidFill>
                  <a:srgbClr val="94A3B8"/>
                </a:solidFill>
                <a:latin typeface="Segoe UI"/>
              </a:rPr>
              <a:t>least-squares slope</a:t>
            </a:r>
            <a:endParaRPr/>
          </a:p>
        </p:txBody>
      </p:sp>
      <p:sp>
        <p:nvSpPr>
          <p:cNvPr id="1663424713" name="TextBox 32"/>
          <p:cNvSpPr txBox="1"/>
          <p:nvPr/>
        </p:nvSpPr>
        <p:spPr bwMode="auto">
          <a:xfrm>
            <a:off x="6309360" y="4352544"/>
            <a:ext cx="5102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50" b="1" i="0">
                <a:solidFill>
                  <a:srgbClr val="0F172A"/>
                </a:solidFill>
                <a:latin typeface="Segoe UI"/>
              </a:rPr>
              <a:t>Weights vary by workload class</a:t>
            </a:r>
            <a:endParaRPr/>
          </a:p>
        </p:txBody>
      </p:sp>
      <p:sp>
        <p:nvSpPr>
          <p:cNvPr id="1196617864" name="Rectangle 33"/>
          <p:cNvSpPr/>
          <p:nvPr/>
        </p:nvSpPr>
        <p:spPr bwMode="auto">
          <a:xfrm>
            <a:off x="6309360" y="4645152"/>
            <a:ext cx="1901952" cy="25603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50" b="1" i="0">
                <a:solidFill>
                  <a:srgbClr val="FFFFFF"/>
                </a:solidFill>
                <a:latin typeface="Segoe UI"/>
              </a:rPr>
              <a:t>Class</a:t>
            </a:r>
            <a:endParaRPr/>
          </a:p>
        </p:txBody>
      </p:sp>
      <p:sp>
        <p:nvSpPr>
          <p:cNvPr id="1066582453" name="Rectangle 34"/>
          <p:cNvSpPr/>
          <p:nvPr/>
        </p:nvSpPr>
        <p:spPr bwMode="auto">
          <a:xfrm>
            <a:off x="8211312" y="4645152"/>
            <a:ext cx="640080" cy="25603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50" b="1" i="0">
                <a:solidFill>
                  <a:srgbClr val="FFFFFF"/>
                </a:solidFill>
                <a:latin typeface="Segoe UI"/>
              </a:rPr>
              <a:t>α</a:t>
            </a:r>
            <a:endParaRPr/>
          </a:p>
        </p:txBody>
      </p:sp>
      <p:sp>
        <p:nvSpPr>
          <p:cNvPr id="1817431921" name="Rectangle 35"/>
          <p:cNvSpPr/>
          <p:nvPr/>
        </p:nvSpPr>
        <p:spPr bwMode="auto">
          <a:xfrm>
            <a:off x="8851392" y="4645152"/>
            <a:ext cx="640080" cy="25603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50" b="1" i="0">
                <a:solidFill>
                  <a:srgbClr val="FFFFFF"/>
                </a:solidFill>
                <a:latin typeface="Segoe UI"/>
              </a:rPr>
              <a:t>β</a:t>
            </a:r>
            <a:endParaRPr/>
          </a:p>
        </p:txBody>
      </p:sp>
      <p:sp>
        <p:nvSpPr>
          <p:cNvPr id="1928334208" name="Rectangle 36"/>
          <p:cNvSpPr/>
          <p:nvPr/>
        </p:nvSpPr>
        <p:spPr bwMode="auto">
          <a:xfrm>
            <a:off x="9491472" y="4645152"/>
            <a:ext cx="640080" cy="25603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50" b="1" i="0">
                <a:solidFill>
                  <a:srgbClr val="FFFFFF"/>
                </a:solidFill>
                <a:latin typeface="Segoe UI"/>
              </a:rPr>
              <a:t>γ</a:t>
            </a:r>
            <a:endParaRPr/>
          </a:p>
        </p:txBody>
      </p:sp>
      <p:sp>
        <p:nvSpPr>
          <p:cNvPr id="798434434" name="Rectangle 37"/>
          <p:cNvSpPr/>
          <p:nvPr/>
        </p:nvSpPr>
        <p:spPr bwMode="auto">
          <a:xfrm>
            <a:off x="10131551" y="4645152"/>
            <a:ext cx="640080" cy="25603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50" b="1" i="0">
                <a:solidFill>
                  <a:srgbClr val="FFFFFF"/>
                </a:solidFill>
                <a:latin typeface="Segoe UI"/>
              </a:rPr>
              <a:t>δ</a:t>
            </a:r>
            <a:endParaRPr/>
          </a:p>
        </p:txBody>
      </p:sp>
      <p:sp>
        <p:nvSpPr>
          <p:cNvPr id="215984854" name="Rectangle 38"/>
          <p:cNvSpPr/>
          <p:nvPr/>
        </p:nvSpPr>
        <p:spPr bwMode="auto">
          <a:xfrm>
            <a:off x="10771631" y="4645152"/>
            <a:ext cx="640080" cy="25603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50" b="1" i="0">
                <a:solidFill>
                  <a:srgbClr val="FFFFFF"/>
                </a:solidFill>
                <a:latin typeface="Segoe UI"/>
              </a:rPr>
              <a:t>ε</a:t>
            </a:r>
            <a:endParaRPr/>
          </a:p>
        </p:txBody>
      </p:sp>
      <p:sp>
        <p:nvSpPr>
          <p:cNvPr id="561445131" name="Rectangle 39"/>
          <p:cNvSpPr/>
          <p:nvPr/>
        </p:nvSpPr>
        <p:spPr bwMode="auto">
          <a:xfrm>
            <a:off x="6309360" y="4901184"/>
            <a:ext cx="1901952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0F172A"/>
                </a:solidFill>
                <a:latin typeface="Consolas"/>
              </a:rPr>
              <a:t>CPU_BOUND</a:t>
            </a:r>
            <a:endParaRPr/>
          </a:p>
        </p:txBody>
      </p:sp>
      <p:sp>
        <p:nvSpPr>
          <p:cNvPr id="1471371644" name="Rectangle 40"/>
          <p:cNvSpPr/>
          <p:nvPr/>
        </p:nvSpPr>
        <p:spPr bwMode="auto">
          <a:xfrm>
            <a:off x="8211312" y="4901184"/>
            <a:ext cx="640080" cy="242316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0F766E"/>
                </a:solidFill>
                <a:latin typeface="Consolas"/>
              </a:rPr>
              <a:t>0.50</a:t>
            </a:r>
            <a:endParaRPr/>
          </a:p>
        </p:txBody>
      </p:sp>
      <p:sp>
        <p:nvSpPr>
          <p:cNvPr id="2077782881" name="Rectangle 41"/>
          <p:cNvSpPr/>
          <p:nvPr/>
        </p:nvSpPr>
        <p:spPr bwMode="auto">
          <a:xfrm>
            <a:off x="8851392" y="4901184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0.10</a:t>
            </a:r>
            <a:endParaRPr/>
          </a:p>
        </p:txBody>
      </p:sp>
      <p:sp>
        <p:nvSpPr>
          <p:cNvPr id="2091527577" name="Rectangle 42"/>
          <p:cNvSpPr/>
          <p:nvPr/>
        </p:nvSpPr>
        <p:spPr bwMode="auto">
          <a:xfrm>
            <a:off x="9491472" y="4901184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0.20</a:t>
            </a:r>
            <a:endParaRPr/>
          </a:p>
        </p:txBody>
      </p:sp>
      <p:sp>
        <p:nvSpPr>
          <p:cNvPr id="609793012" name="Rectangle 43"/>
          <p:cNvSpPr/>
          <p:nvPr/>
        </p:nvSpPr>
        <p:spPr bwMode="auto">
          <a:xfrm>
            <a:off x="10131551" y="4901184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0.15</a:t>
            </a:r>
            <a:endParaRPr/>
          </a:p>
        </p:txBody>
      </p:sp>
      <p:sp>
        <p:nvSpPr>
          <p:cNvPr id="767693427" name="Rectangle 44"/>
          <p:cNvSpPr/>
          <p:nvPr/>
        </p:nvSpPr>
        <p:spPr bwMode="auto">
          <a:xfrm>
            <a:off x="10771631" y="4901184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0.05</a:t>
            </a:r>
            <a:endParaRPr/>
          </a:p>
        </p:txBody>
      </p:sp>
      <p:sp>
        <p:nvSpPr>
          <p:cNvPr id="979032719" name="Rectangle 45"/>
          <p:cNvSpPr/>
          <p:nvPr/>
        </p:nvSpPr>
        <p:spPr bwMode="auto">
          <a:xfrm>
            <a:off x="6309360" y="5143500"/>
            <a:ext cx="1901952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0F172A"/>
                </a:solidFill>
                <a:latin typeface="Consolas"/>
              </a:rPr>
              <a:t>MEMORY_BOUND</a:t>
            </a:r>
            <a:endParaRPr/>
          </a:p>
        </p:txBody>
      </p:sp>
      <p:sp>
        <p:nvSpPr>
          <p:cNvPr id="1283443773" name="Rectangle 46"/>
          <p:cNvSpPr/>
          <p:nvPr/>
        </p:nvSpPr>
        <p:spPr bwMode="auto">
          <a:xfrm>
            <a:off x="8211312" y="5143500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0.10</a:t>
            </a:r>
            <a:endParaRPr/>
          </a:p>
        </p:txBody>
      </p:sp>
      <p:sp>
        <p:nvSpPr>
          <p:cNvPr id="380011788" name="Rectangle 47"/>
          <p:cNvSpPr/>
          <p:nvPr/>
        </p:nvSpPr>
        <p:spPr bwMode="auto">
          <a:xfrm>
            <a:off x="8851392" y="5143500"/>
            <a:ext cx="640080" cy="242316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0F766E"/>
                </a:solidFill>
                <a:latin typeface="Consolas"/>
              </a:rPr>
              <a:t>0.50</a:t>
            </a:r>
            <a:endParaRPr/>
          </a:p>
        </p:txBody>
      </p:sp>
      <p:sp>
        <p:nvSpPr>
          <p:cNvPr id="349127967" name="Rectangle 48"/>
          <p:cNvSpPr/>
          <p:nvPr/>
        </p:nvSpPr>
        <p:spPr bwMode="auto">
          <a:xfrm>
            <a:off x="9491472" y="5143500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0.20</a:t>
            </a:r>
            <a:endParaRPr/>
          </a:p>
        </p:txBody>
      </p:sp>
      <p:sp>
        <p:nvSpPr>
          <p:cNvPr id="1126217698" name="Rectangle 49"/>
          <p:cNvSpPr/>
          <p:nvPr/>
        </p:nvSpPr>
        <p:spPr bwMode="auto">
          <a:xfrm>
            <a:off x="10131551" y="5143500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0.15</a:t>
            </a:r>
            <a:endParaRPr/>
          </a:p>
        </p:txBody>
      </p:sp>
      <p:sp>
        <p:nvSpPr>
          <p:cNvPr id="798152752" name="Rectangle 50"/>
          <p:cNvSpPr/>
          <p:nvPr/>
        </p:nvSpPr>
        <p:spPr bwMode="auto">
          <a:xfrm>
            <a:off x="10771631" y="5143500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0.05</a:t>
            </a:r>
            <a:endParaRPr/>
          </a:p>
        </p:txBody>
      </p:sp>
      <p:sp>
        <p:nvSpPr>
          <p:cNvPr id="1548043827" name="Rectangle 51"/>
          <p:cNvSpPr/>
          <p:nvPr/>
        </p:nvSpPr>
        <p:spPr bwMode="auto">
          <a:xfrm>
            <a:off x="6309360" y="5385816"/>
            <a:ext cx="1901952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0F172A"/>
                </a:solidFill>
                <a:latin typeface="Consolas"/>
              </a:rPr>
              <a:t>IO_BOUND</a:t>
            </a:r>
            <a:endParaRPr/>
          </a:p>
        </p:txBody>
      </p:sp>
      <p:sp>
        <p:nvSpPr>
          <p:cNvPr id="457755930" name="Rectangle 52"/>
          <p:cNvSpPr/>
          <p:nvPr/>
        </p:nvSpPr>
        <p:spPr bwMode="auto">
          <a:xfrm>
            <a:off x="8211312" y="5385816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0.15</a:t>
            </a:r>
            <a:endParaRPr/>
          </a:p>
        </p:txBody>
      </p:sp>
      <p:sp>
        <p:nvSpPr>
          <p:cNvPr id="1192925810" name="Rectangle 53"/>
          <p:cNvSpPr/>
          <p:nvPr/>
        </p:nvSpPr>
        <p:spPr bwMode="auto">
          <a:xfrm>
            <a:off x="8851392" y="5385816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0.15</a:t>
            </a:r>
            <a:endParaRPr/>
          </a:p>
        </p:txBody>
      </p:sp>
      <p:sp>
        <p:nvSpPr>
          <p:cNvPr id="866844942" name="Rectangle 54"/>
          <p:cNvSpPr/>
          <p:nvPr/>
        </p:nvSpPr>
        <p:spPr bwMode="auto">
          <a:xfrm>
            <a:off x="9491472" y="5385816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0.25</a:t>
            </a:r>
            <a:endParaRPr/>
          </a:p>
        </p:txBody>
      </p:sp>
      <p:sp>
        <p:nvSpPr>
          <p:cNvPr id="1696695602" name="Rectangle 55"/>
          <p:cNvSpPr/>
          <p:nvPr/>
        </p:nvSpPr>
        <p:spPr bwMode="auto">
          <a:xfrm>
            <a:off x="10131551" y="5385816"/>
            <a:ext cx="640080" cy="242316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0F766E"/>
                </a:solidFill>
                <a:latin typeface="Consolas"/>
              </a:rPr>
              <a:t>0.40</a:t>
            </a:r>
            <a:endParaRPr/>
          </a:p>
        </p:txBody>
      </p:sp>
      <p:sp>
        <p:nvSpPr>
          <p:cNvPr id="1329205889" name="Rectangle 56"/>
          <p:cNvSpPr/>
          <p:nvPr/>
        </p:nvSpPr>
        <p:spPr bwMode="auto">
          <a:xfrm>
            <a:off x="10771631" y="5385816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0.05</a:t>
            </a:r>
            <a:endParaRPr/>
          </a:p>
        </p:txBody>
      </p:sp>
      <p:sp>
        <p:nvSpPr>
          <p:cNvPr id="510368039" name="Rectangle 57"/>
          <p:cNvSpPr/>
          <p:nvPr/>
        </p:nvSpPr>
        <p:spPr bwMode="auto">
          <a:xfrm>
            <a:off x="6309360" y="5628131"/>
            <a:ext cx="1901952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73152" bIns="3657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0F172A"/>
                </a:solidFill>
                <a:latin typeface="Consolas"/>
              </a:rPr>
              <a:t>LIGHTWEIGHT</a:t>
            </a:r>
            <a:endParaRPr/>
          </a:p>
        </p:txBody>
      </p:sp>
      <p:sp>
        <p:nvSpPr>
          <p:cNvPr id="845582479" name="Rectangle 58"/>
          <p:cNvSpPr/>
          <p:nvPr/>
        </p:nvSpPr>
        <p:spPr bwMode="auto">
          <a:xfrm>
            <a:off x="8211312" y="5628131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0.10</a:t>
            </a:r>
            <a:endParaRPr/>
          </a:p>
        </p:txBody>
      </p:sp>
      <p:sp>
        <p:nvSpPr>
          <p:cNvPr id="1085519201" name="Rectangle 59"/>
          <p:cNvSpPr/>
          <p:nvPr/>
        </p:nvSpPr>
        <p:spPr bwMode="auto">
          <a:xfrm>
            <a:off x="8851392" y="5628131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0.05</a:t>
            </a:r>
            <a:endParaRPr/>
          </a:p>
        </p:txBody>
      </p:sp>
      <p:sp>
        <p:nvSpPr>
          <p:cNvPr id="29280656" name="Rectangle 60"/>
          <p:cNvSpPr/>
          <p:nvPr/>
        </p:nvSpPr>
        <p:spPr bwMode="auto">
          <a:xfrm>
            <a:off x="9491472" y="5628131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0.25</a:t>
            </a:r>
            <a:endParaRPr/>
          </a:p>
        </p:txBody>
      </p:sp>
      <p:sp>
        <p:nvSpPr>
          <p:cNvPr id="658387055" name="Rectangle 61"/>
          <p:cNvSpPr/>
          <p:nvPr/>
        </p:nvSpPr>
        <p:spPr bwMode="auto">
          <a:xfrm>
            <a:off x="10131551" y="5628131"/>
            <a:ext cx="640080" cy="242316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1" i="0">
                <a:solidFill>
                  <a:srgbClr val="0F766E"/>
                </a:solidFill>
                <a:latin typeface="Consolas"/>
              </a:rPr>
              <a:t>0.55</a:t>
            </a:r>
            <a:endParaRPr/>
          </a:p>
        </p:txBody>
      </p:sp>
      <p:sp>
        <p:nvSpPr>
          <p:cNvPr id="794296060" name="Rectangle 62"/>
          <p:cNvSpPr/>
          <p:nvPr/>
        </p:nvSpPr>
        <p:spPr bwMode="auto">
          <a:xfrm>
            <a:off x="10771631" y="5628131"/>
            <a:ext cx="64008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334155"/>
                </a:solidFill>
                <a:latin typeface="Consolas"/>
              </a:rPr>
              <a:t>0.05</a:t>
            </a:r>
            <a:endParaRPr/>
          </a:p>
        </p:txBody>
      </p:sp>
      <p:sp>
        <p:nvSpPr>
          <p:cNvPr id="40130934" name="TextBox 63"/>
          <p:cNvSpPr txBox="1"/>
          <p:nvPr/>
        </p:nvSpPr>
        <p:spPr bwMode="auto">
          <a:xfrm>
            <a:off x="777240" y="5888736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0F766E"/>
                </a:solidFill>
                <a:latin typeface="Segoe UI"/>
              </a:rPr>
              <a:t>Telemetry ranks; it never changes eligibility.  </a:t>
            </a:r>
            <a:r>
              <a:rPr sz="1100" b="0">
                <a:solidFill>
                  <a:srgbClr val="334155"/>
                </a:solidFill>
                <a:latin typeface="Segoe UI"/>
              </a:rPr>
              <a:t>Feasibility is evaluated on static fields alone, stale telemetry falls back to reservation estimates rather than to “0% CPU”, and there is no threshold cliff in the score.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785963" name="Rectangle 1"/>
          <p:cNvSpPr/>
          <p:nvPr/>
        </p:nvSpPr>
        <p:spPr bwMode="auto"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9017094" name="TextBox 2"/>
          <p:cNvSpPr txBox="1"/>
          <p:nvPr/>
        </p:nvSpPr>
        <p:spPr bwMode="auto">
          <a:xfrm>
            <a:off x="777240" y="38404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050" b="1" i="0">
                <a:solidFill>
                  <a:srgbClr val="0F766E"/>
                </a:solidFill>
                <a:latin typeface="Segoe UI"/>
              </a:rPr>
              <a:t>REFERENCES</a:t>
            </a:r>
            <a:endParaRPr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900" b="1" i="0">
                <a:solidFill>
                  <a:srgbClr val="0F172A"/>
                </a:solidFill>
                <a:latin typeface="Segoe UI"/>
              </a:rPr>
              <a:t>Sources and prior art</a:t>
            </a:r>
            <a:endParaRPr/>
          </a:p>
        </p:txBody>
      </p:sp>
      <p:cxnSp>
        <p:nvCxnSpPr>
          <p:cNvPr id="600077306" name="Connector 3"/>
          <p:cNvCxnSpPr/>
          <p:nvPr/>
        </p:nvCxnSpPr>
        <p:spPr bwMode="auto">
          <a:xfrm>
            <a:off x="777240" y="1389888"/>
            <a:ext cx="1063447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2105613" name="TextBox 4"/>
          <p:cNvSpPr txBox="1"/>
          <p:nvPr/>
        </p:nvSpPr>
        <p:spPr bwMode="auto">
          <a:xfrm>
            <a:off x="777240" y="63276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Segoe UI"/>
              </a:rPr>
              <a:t>Nimbus  ·  Review 1  ·  08</a:t>
            </a:r>
            <a:endParaRPr/>
          </a:p>
        </p:txBody>
      </p:sp>
      <p:sp>
        <p:nvSpPr>
          <p:cNvPr id="60290462" name="TextBox 5"/>
          <p:cNvSpPr txBox="1"/>
          <p:nvPr/>
        </p:nvSpPr>
        <p:spPr bwMode="auto">
          <a:xfrm>
            <a:off x="777240" y="1627632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50" b="1" i="0">
                <a:solidFill>
                  <a:srgbClr val="0F766E"/>
                </a:solidFill>
                <a:latin typeface="Segoe UI"/>
              </a:rPr>
              <a:t>AWS SERVICE DOCUMENTATION — PRIOR ART</a:t>
            </a:r>
            <a:endParaRPr/>
          </a:p>
        </p:txBody>
      </p:sp>
      <p:sp>
        <p:nvSpPr>
          <p:cNvPr id="217653196" name="TextBox 6"/>
          <p:cNvSpPr txBox="1"/>
          <p:nvPr/>
        </p:nvSpPr>
        <p:spPr bwMode="auto">
          <a:xfrm>
            <a:off x="777240" y="1938528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[1]  </a:t>
            </a:r>
            <a:r>
              <a:rPr sz="1100" b="0">
                <a:solidFill>
                  <a:srgbClr val="0F172A"/>
                </a:solidFill>
                <a:latin typeface="Segoe UI"/>
              </a:rPr>
              <a:t>Amazon Web Services, “AWS Batch job scheduling,” AWS Batch User Guide.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Consolas"/>
              </a:rPr>
              <a:t>        docs.aws.amazon.com/batch/latest/userguide/job_scheduling.html</a:t>
            </a:r>
            <a:endParaRPr/>
          </a:p>
        </p:txBody>
      </p:sp>
      <p:sp>
        <p:nvSpPr>
          <p:cNvPr id="1349021680" name="TextBox 7"/>
          <p:cNvSpPr txBox="1"/>
          <p:nvPr/>
        </p:nvSpPr>
        <p:spPr bwMode="auto">
          <a:xfrm>
            <a:off x="777240" y="2272284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[2]  </a:t>
            </a:r>
            <a:r>
              <a:rPr sz="1100" b="0">
                <a:solidFill>
                  <a:srgbClr val="0F172A"/>
                </a:solidFill>
                <a:latin typeface="Segoe UI"/>
              </a:rPr>
              <a:t>Amazon Web Services, “Fair-share scheduling policies,” AWS Batch User Guide.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Consolas"/>
              </a:rPr>
              <a:t>        docs.aws.amazon.com/batch/latest/userguide/fair-share-scheduling.html</a:t>
            </a:r>
            <a:endParaRPr/>
          </a:p>
        </p:txBody>
      </p:sp>
      <p:sp>
        <p:nvSpPr>
          <p:cNvPr id="1121709755" name="TextBox 8"/>
          <p:cNvSpPr txBox="1"/>
          <p:nvPr/>
        </p:nvSpPr>
        <p:spPr bwMode="auto">
          <a:xfrm>
            <a:off x="777240" y="2606040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[3]  </a:t>
            </a:r>
            <a:r>
              <a:rPr sz="1100" b="0">
                <a:solidFill>
                  <a:srgbClr val="0F172A"/>
                </a:solidFill>
                <a:latin typeface="Segoe UI"/>
              </a:rPr>
              <a:t>Amazon Web Services, “Compute environment allocation strategies,” AWS Batch User Guide.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Consolas"/>
              </a:rPr>
              <a:t>        docs.aws.amazon.com/batch/latest/userguide/allocation-strategies.html</a:t>
            </a:r>
            <a:endParaRPr/>
          </a:p>
        </p:txBody>
      </p:sp>
      <p:sp>
        <p:nvSpPr>
          <p:cNvPr id="1926897582" name="TextBox 9"/>
          <p:cNvSpPr txBox="1"/>
          <p:nvPr/>
        </p:nvSpPr>
        <p:spPr bwMode="auto">
          <a:xfrm>
            <a:off x="777240" y="2939796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[4]  </a:t>
            </a:r>
            <a:r>
              <a:rPr sz="1100" b="0">
                <a:solidFill>
                  <a:srgbClr val="0F172A"/>
                </a:solidFill>
                <a:latin typeface="Segoe UI"/>
              </a:rPr>
              <a:t>Amazon Web Services, “Amazon ECS task placement,” Amazon ECS Developer Guide.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Consolas"/>
              </a:rPr>
              <a:t>        docs.aws.amazon.com/AmazonECS/latest/developerguide/task-placement.html</a:t>
            </a:r>
            <a:endParaRPr/>
          </a:p>
        </p:txBody>
      </p:sp>
      <p:sp>
        <p:nvSpPr>
          <p:cNvPr id="969412255" name="TextBox 10"/>
          <p:cNvSpPr txBox="1"/>
          <p:nvPr/>
        </p:nvSpPr>
        <p:spPr bwMode="auto">
          <a:xfrm>
            <a:off x="777240" y="3273552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[5]  </a:t>
            </a:r>
            <a:r>
              <a:rPr sz="1100" b="0">
                <a:solidFill>
                  <a:srgbClr val="0F172A"/>
                </a:solidFill>
                <a:latin typeface="Segoe UI"/>
              </a:rPr>
              <a:t>Amazon Web Services, “Amazon ECS task placement strategies,” Amazon ECS Developer Guide.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Consolas"/>
              </a:rPr>
              <a:t>        docs.aws.amazon.com/AmazonECS/latest/developerguide/task-placement-strategies.html</a:t>
            </a:r>
            <a:endParaRPr/>
          </a:p>
        </p:txBody>
      </p:sp>
      <p:sp>
        <p:nvSpPr>
          <p:cNvPr id="355656197" name="TextBox 11"/>
          <p:cNvSpPr txBox="1"/>
          <p:nvPr/>
        </p:nvSpPr>
        <p:spPr bwMode="auto">
          <a:xfrm>
            <a:off x="777240" y="3607308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[6]  </a:t>
            </a:r>
            <a:r>
              <a:rPr sz="1100" b="0">
                <a:solidFill>
                  <a:srgbClr val="0F172A"/>
                </a:solidFill>
                <a:latin typeface="Segoe UI"/>
              </a:rPr>
              <a:t>Amazon Web Services, “Cluster query language,” Amazon ECS Developer Guide.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Consolas"/>
              </a:rPr>
              <a:t>        docs.aws.amazon.com/AmazonECS/latest/developerguide/cluster-query-language.html</a:t>
            </a:r>
            <a:endParaRPr/>
          </a:p>
        </p:txBody>
      </p:sp>
      <p:sp>
        <p:nvSpPr>
          <p:cNvPr id="2065987231" name="TextBox 12"/>
          <p:cNvSpPr txBox="1"/>
          <p:nvPr/>
        </p:nvSpPr>
        <p:spPr bwMode="auto">
          <a:xfrm>
            <a:off x="777240" y="3941064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[7]  </a:t>
            </a:r>
            <a:r>
              <a:rPr sz="1100" b="0">
                <a:solidFill>
                  <a:srgbClr val="0F172A"/>
                </a:solidFill>
                <a:latin typeface="Segoe UI"/>
              </a:rPr>
              <a:t>Amazon Web Services, “Amazon SQS visibility timeout,” Amazon SQS Developer Guide.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Consolas"/>
              </a:rPr>
              <a:t>        docs.aws.amazon.com/AWSSimpleQueueService/latest/SQSDeveloperGuide/sqs-visibility-timeout.html</a:t>
            </a:r>
            <a:endParaRPr/>
          </a:p>
        </p:txBody>
      </p:sp>
      <p:sp>
        <p:nvSpPr>
          <p:cNvPr id="606524565" name="TextBox 13"/>
          <p:cNvSpPr txBox="1"/>
          <p:nvPr/>
        </p:nvSpPr>
        <p:spPr bwMode="auto">
          <a:xfrm>
            <a:off x="777240" y="4274820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[8]  </a:t>
            </a:r>
            <a:r>
              <a:rPr sz="1100" b="0">
                <a:solidFill>
                  <a:srgbClr val="0F172A"/>
                </a:solidFill>
                <a:latin typeface="Segoe UI"/>
              </a:rPr>
              <a:t>Amazon Web Services, “Amazon SQS dead-letter queues,” Amazon SQS Developer Guide.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Consolas"/>
              </a:rPr>
              <a:t>        docs.aws.amazon.com/AWSSimpleQueueService/latest/SQSDeveloperGuide/sqs-dead-letter-queues.html</a:t>
            </a:r>
            <a:endParaRPr/>
          </a:p>
        </p:txBody>
      </p:sp>
      <p:sp>
        <p:nvSpPr>
          <p:cNvPr id="1431741344" name="TextBox 14"/>
          <p:cNvSpPr txBox="1"/>
          <p:nvPr/>
        </p:nvSpPr>
        <p:spPr bwMode="auto">
          <a:xfrm>
            <a:off x="777240" y="4608576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[9]  </a:t>
            </a:r>
            <a:r>
              <a:rPr sz="1100" b="0">
                <a:solidFill>
                  <a:srgbClr val="0F172A"/>
                </a:solidFill>
                <a:latin typeface="Segoe UI"/>
              </a:rPr>
              <a:t>Amazon Web Services, “Amazon SQS fair queues,” Amazon SQS Developer Guide.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Consolas"/>
              </a:rPr>
              <a:t>        docs.aws.amazon.com/AWSSimpleQueueService/latest/SQSDeveloperGuide/sqs-fair-queues.html</a:t>
            </a:r>
            <a:endParaRPr/>
          </a:p>
        </p:txBody>
      </p:sp>
      <p:sp>
        <p:nvSpPr>
          <p:cNvPr id="1743637913" name="TextBox 15"/>
          <p:cNvSpPr txBox="1"/>
          <p:nvPr/>
        </p:nvSpPr>
        <p:spPr bwMode="auto">
          <a:xfrm>
            <a:off x="777240" y="4942332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[10]  </a:t>
            </a:r>
            <a:r>
              <a:rPr sz="1100" b="0">
                <a:solidFill>
                  <a:srgbClr val="0F172A"/>
                </a:solidFill>
                <a:latin typeface="Segoe UI"/>
              </a:rPr>
              <a:t>Amazon Web Services, “Scale your Auto Scaling group,” Amazon EC2 Auto Scaling User Guide.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Consolas"/>
              </a:rPr>
              <a:t>        docs.aws.amazon.com/autoscaling/ec2/userguide/scale-your-group.html</a:t>
            </a:r>
            <a:endParaRPr/>
          </a:p>
        </p:txBody>
      </p:sp>
      <p:sp>
        <p:nvSpPr>
          <p:cNvPr id="295350642" name="TextBox 16"/>
          <p:cNvSpPr txBox="1"/>
          <p:nvPr/>
        </p:nvSpPr>
        <p:spPr bwMode="auto">
          <a:xfrm>
            <a:off x="777240" y="5276088"/>
            <a:ext cx="10634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00"/>
              </a:spcAft>
              <a:defRPr/>
            </a:pPr>
            <a:r>
              <a:rPr sz="1100" b="1">
                <a:solidFill>
                  <a:srgbClr val="64748B"/>
                </a:solidFill>
                <a:latin typeface="Consolas"/>
              </a:rPr>
              <a:t>[11]  </a:t>
            </a:r>
            <a:r>
              <a:rPr sz="1100" b="0">
                <a:solidFill>
                  <a:srgbClr val="0F172A"/>
                </a:solidFill>
                <a:latin typeface="Segoe UI"/>
              </a:rPr>
              <a:t>Amazon Web Services, “AWS Price List Query API.”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900" b="0" i="0">
                <a:solidFill>
                  <a:srgbClr val="64748B"/>
                </a:solidFill>
                <a:latin typeface="Consolas"/>
              </a:rPr>
              <a:t>        pricing.us-east-1.amazonaws.com/offers/v1.0/aws/</a:t>
            </a:r>
            <a:endParaRPr/>
          </a:p>
        </p:txBody>
      </p:sp>
      <p:sp>
        <p:nvSpPr>
          <p:cNvPr id="811193103" name="TextBox 17"/>
          <p:cNvSpPr txBox="1"/>
          <p:nvPr/>
        </p:nvSpPr>
        <p:spPr bwMode="auto">
          <a:xfrm>
            <a:off x="777240" y="5687568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950" b="1" i="0">
                <a:solidFill>
                  <a:srgbClr val="0F766E"/>
                </a:solidFill>
                <a:latin typeface="Segoe UI"/>
              </a:rPr>
              <a:t>TOOLS AND LIBRARIES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50" b="0">
                <a:solidFill>
                  <a:srgbClr val="334155"/>
                </a:solidFill>
                <a:latin typeface="Segoe UI"/>
              </a:rPr>
              <a:t>FastAPI  ·  Uvicorn  ·  Pydantic  ·  psutil  ·  NumPy  ·  SciPy  ·  pytest</a:t>
            </a:r>
            <a:endParaRPr/>
          </a:p>
        </p:txBody>
      </p:sp>
      <p:sp>
        <p:nvSpPr>
          <p:cNvPr id="558736816" name="TextBox 18"/>
          <p:cNvSpPr txBox="1"/>
          <p:nvPr/>
        </p:nvSpPr>
        <p:spPr bwMode="auto">
          <a:xfrm>
            <a:off x="6400800" y="5687568"/>
            <a:ext cx="5010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950" b="1" i="0">
                <a:solidFill>
                  <a:srgbClr val="0F766E"/>
                </a:solidFill>
                <a:latin typeface="Segoe UI"/>
              </a:rPr>
              <a:t>PROJECT DESIGN DOCUMENTS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850" b="0">
                <a:solidFill>
                  <a:srgbClr val="334155"/>
                </a:solidFill>
                <a:latin typeface="Consolas"/>
              </a:rPr>
              <a:t>architecture · scheduling · experiments · aws-native-scheduling ·</a:t>
            </a:r>
            <a:br>
              <a:rPr sz="850" b="0">
                <a:solidFill>
                  <a:srgbClr val="334155"/>
                </a:solidFill>
                <a:latin typeface="Consolas"/>
              </a:rPr>
            </a:br>
            <a:r>
              <a:rPr sz="850" b="0">
                <a:solidFill>
                  <a:srgbClr val="334155"/>
                </a:solidFill>
                <a:latin typeface="Consolas"/>
              </a:rPr>
              <a:t>adaptive-v1-preregistration · limitations       (all under docs/)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2026-08-22T06:05:15Z</dcterms:modified>
  <cp:category/>
</cp:coreProperties>
</file>